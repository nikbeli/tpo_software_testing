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3"/>
  </p:notesMasterIdLst>
  <p:handoutMasterIdLst>
    <p:handoutMasterId r:id="rId34"/>
  </p:handoutMasterIdLst>
  <p:sldIdLst>
    <p:sldId id="256" r:id="rId3"/>
    <p:sldId id="257" r:id="rId4"/>
    <p:sldId id="258" r:id="rId5"/>
    <p:sldId id="259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73" r:id="rId31"/>
    <p:sldId id="260" r:id="rId32"/>
  </p:sldIdLst>
  <p:sldSz cx="10691813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18" y="67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259" y="-91"/>
      </p:cViewPr>
      <p:guideLst>
        <p:guide orient="horz" pos="3367"/>
        <p:guide pos="23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838A3-E109-4F1D-9FCC-EF09B935682D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2A091-47E7-4B68-B6F0-E4FEA3D8F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9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52000-7BA7-4E98-9AAA-4FCE25FD58C5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44563" y="801688"/>
            <a:ext cx="5670550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1EDE4-ECEF-4344-A377-B4F7BE165A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8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1e8f2bd7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1e8f2bd7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e29a2f5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e29a2f5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fd420ec5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fd420ec5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e29a2f58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e29a2f58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fd420ec5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ffd420ec5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ffd420ec5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ffd420ec5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fd420ec5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fd420ec5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fd420ec5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fd420ec5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fd420ec5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ffd420ec5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fd420ec5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ffd420ec5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ffd420ec5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ffd420ec5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fd420ec5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fd420ec5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fd420ec5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ffd420ec5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fd420ec5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ffd420ec5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fd420ec5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ffd420ec5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ffd420ec5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ffd420ec5_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fd420ec5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ffd420ec5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ffd420ec5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ffd420ec5_2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ffd420ec5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ffd420ec5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ffd420ec5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ffd420ec5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ce29a2f58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ce29a2f58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ce29a2f58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ce29a2f58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ce29a2f58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ce29a2f58c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ce29a2f58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ce29a2f58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ce29a2f58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ce29a2f58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ce29a2f58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ce29a2f58c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ce29a2f5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ce29a2f5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2" y="654077"/>
            <a:ext cx="9962890" cy="841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2" y="1693854"/>
            <a:ext cx="9962890" cy="5021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03972" lvl="0" indent="-377979" algn="just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marL="1007943" lvl="1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marL="1511915" lvl="2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marL="2015886" lvl="3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marL="2519858" lvl="4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marL="3023829" lvl="5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marL="3527801" lvl="6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marL="4031772" lvl="7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marL="4535744" lvl="8" indent="-349980" algn="just">
              <a:spcBef>
                <a:spcPts val="1764"/>
              </a:spcBef>
              <a:spcAft>
                <a:spcPts val="1764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598" y="6853777"/>
            <a:ext cx="641579" cy="578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ru" smtClean="0"/>
              <a:pPr algn="r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689337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18.10.2022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35120" y="402480"/>
            <a:ext cx="9221400" cy="14608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850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485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5120" y="2012400"/>
            <a:ext cx="9221400" cy="47962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52000" indent="-251640">
              <a:lnSpc>
                <a:spcPct val="90000"/>
              </a:lnSpc>
              <a:spcBef>
                <a:spcPts val="1103"/>
              </a:spcBef>
              <a:buClr>
                <a:srgbClr val="000000"/>
              </a:buClr>
              <a:buFont typeface="Arial"/>
              <a:buChar char="•"/>
            </a:pPr>
            <a:r>
              <a:rPr lang="ru-RU" sz="3090" b="0" strike="noStrike" spc="-1">
                <a:solidFill>
                  <a:srgbClr val="000000"/>
                </a:solidFill>
                <a:latin typeface="Geometria light"/>
              </a:rPr>
              <a:t>Образец текста</a:t>
            </a:r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  <a:p>
            <a:pPr marL="756000" lvl="1" indent="-2516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650" b="0" strike="noStrike" spc="-1">
                <a:solidFill>
                  <a:srgbClr val="000000"/>
                </a:solidFill>
                <a:latin typeface="Geometria light"/>
              </a:rPr>
              <a:t>Второй уровень</a:t>
            </a:r>
            <a:endParaRPr lang="en-US" sz="2650" b="0" strike="noStrike" spc="-1">
              <a:solidFill>
                <a:srgbClr val="000000"/>
              </a:solidFill>
              <a:latin typeface="Geometria light"/>
            </a:endParaRPr>
          </a:p>
          <a:p>
            <a:pPr marL="1260000" lvl="2" indent="-2516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10" b="0" strike="noStrike" spc="-1">
                <a:solidFill>
                  <a:srgbClr val="000000"/>
                </a:solidFill>
                <a:latin typeface="Geometria light"/>
              </a:rPr>
              <a:t>Третий уровень</a:t>
            </a:r>
            <a:endParaRPr lang="en-US" sz="2210" b="0" strike="noStrike" spc="-1">
              <a:solidFill>
                <a:srgbClr val="000000"/>
              </a:solidFill>
              <a:latin typeface="Geometria light"/>
            </a:endParaRPr>
          </a:p>
          <a:p>
            <a:pPr marL="1764000" lvl="3" indent="-2516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ru-RU" sz="1990" b="0" strike="noStrike" spc="-1">
                <a:solidFill>
                  <a:srgbClr val="000000"/>
                </a:solidFill>
                <a:latin typeface="Geometria light"/>
              </a:rPr>
              <a:t>Четвертый уровень</a:t>
            </a:r>
            <a:endParaRPr lang="en-US" sz="1990" b="0" strike="noStrike" spc="-1">
              <a:solidFill>
                <a:srgbClr val="000000"/>
              </a:solidFill>
              <a:latin typeface="Geometria light"/>
            </a:endParaRPr>
          </a:p>
          <a:p>
            <a:pPr marL="2268000" lvl="4" indent="-2516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ru-RU" sz="1990" b="0" strike="noStrike" spc="-1">
                <a:solidFill>
                  <a:srgbClr val="000000"/>
                </a:solidFill>
                <a:latin typeface="Geometria light"/>
              </a:rPr>
              <a:t>Пятый уровень</a:t>
            </a:r>
            <a:endParaRPr lang="en-US" sz="19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9AB2ED07-E090-41E8-AF69-629F97376972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18.10.2022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642AC0A-0186-4B28-A610-0761D33BA00A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004892"/>
                </a:solidFill>
                <a:latin typeface="Montserrat Bold"/>
              </a:rPr>
              <a:t>Тестирование программного обеспечения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581040" y="262404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Введение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b="1" dirty="0"/>
              <a:t>Понятие</a:t>
            </a:r>
            <a:endParaRPr sz="3600"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 b="1" dirty="0"/>
              <a:t>Тестирование программного обеспечения</a:t>
            </a:r>
            <a:r>
              <a:rPr lang="ru" dirty="0"/>
              <a:t> - проверка соответствия между реальным и ожидаемым поведением программы, осуществляемая на конечном наборе тестов, выбранном определенным образом. [IEEE Guide to Software Engineering Body of Knowledge, SWEBOK, 2004] </a:t>
            </a:r>
            <a:endParaRPr dirty="0"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r>
              <a:rPr lang="ru" dirty="0"/>
              <a:t>В более широком смысле, тестирование - это одна из техник контроля качества, включающая в себя активности по планированию работ, проектированию тестов, выполнению тестирования и анализу полученных результатов.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Задачи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2000" dirty="0"/>
              <a:t>Тестирование (Testing): нахождение дефектов в программном обеспечении. Тестировщики занимаются тестированием всего продукта или отдельных компонентов.</a:t>
            </a:r>
            <a:endParaRPr sz="2000" dirty="0"/>
          </a:p>
          <a:p>
            <a:r>
              <a:rPr lang="ru" sz="2000" dirty="0"/>
              <a:t>Контроль качества продукта (Quality control): деятельность по проверке продукта, включая анализ кода продукта, дизайна, и проведение тестирования. Специалист по контролю качества разрабатывает стратегию тестирования, взаимодействует с разработчиками и организует само тестирование. </a:t>
            </a:r>
            <a:endParaRPr sz="2000" dirty="0"/>
          </a:p>
          <a:p>
            <a:r>
              <a:rPr lang="ru" sz="2000" dirty="0"/>
              <a:t>Обеспечение качества продукта (Quality assurance): деятельность по контролю и обеспечению качества работы продукта компании. QA-специалист отвечает за отдельные этапы разработки софта, выбор инструментов для разработки, предотвращение возможных проблем. Участвует в процессе совершенствования продукта. QA охватывает все этапы разработки, начиная с описания проекта, и заканчивая тестированием.</a:t>
            </a:r>
            <a:endParaRPr sz="2000" dirty="0"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dirty="0"/>
              <a:t>QA, QC, Testing: объемы работ</a:t>
            </a:r>
            <a:endParaRPr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2808156" y="1702277"/>
            <a:ext cx="5075498" cy="5004399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pPr algn="ctr"/>
            <a:r>
              <a:rPr lang="ru" sz="1984" b="1"/>
              <a:t>Управление качеством</a:t>
            </a:r>
            <a:endParaRPr sz="1984" b="1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</p:txBody>
      </p:sp>
      <p:sp>
        <p:nvSpPr>
          <p:cNvPr id="75" name="Google Shape;75;p16"/>
          <p:cNvSpPr/>
          <p:nvPr/>
        </p:nvSpPr>
        <p:spPr>
          <a:xfrm>
            <a:off x="3487238" y="2929015"/>
            <a:ext cx="3717336" cy="3665417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pPr algn="ctr"/>
            <a:r>
              <a:rPr lang="ru" sz="1984" b="1"/>
              <a:t>Контроль качества</a:t>
            </a:r>
            <a:endParaRPr sz="1984" b="1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  <a:p>
            <a:endParaRPr sz="1984"/>
          </a:p>
        </p:txBody>
      </p:sp>
      <p:sp>
        <p:nvSpPr>
          <p:cNvPr id="76" name="Google Shape;76;p16"/>
          <p:cNvSpPr/>
          <p:nvPr/>
        </p:nvSpPr>
        <p:spPr>
          <a:xfrm>
            <a:off x="4227498" y="4306854"/>
            <a:ext cx="2236817" cy="2205401"/>
          </a:xfrm>
          <a:prstGeom prst="ellipse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ru" sz="1764" b="1"/>
              <a:t>Тестирование</a:t>
            </a:r>
            <a:endParaRPr sz="1764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b="1"/>
              <a:t>Верификация программного обеспечения</a:t>
            </a:r>
            <a:r>
              <a:rPr lang="ru"/>
              <a:t> - процесс оценки системы, ее компонентов, процессов разработки для определения соответствия  результатов условиям и требованиям, сформулированным перед разработкой.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b="1"/>
              <a:t>Валидация </a:t>
            </a:r>
            <a:r>
              <a:rPr lang="ru"/>
              <a:t>- это определение соответствия разрабатываемого программного обеспечения ожиданиям и потребностям пользователя и сформулированным требованиям к системе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Источники ожидаемого поведения</a:t>
            </a:r>
            <a:endParaRPr sz="3600" dirty="0"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Техническое задание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Жизненный опыт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Здравый смысл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Общение и обсуждение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Стандарты и устоявшиеся требования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Статистические данные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Авторитетное мнение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Артефакты тестирования	</a:t>
            </a:r>
            <a:endParaRPr sz="3600" dirty="0"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План тестирования (Test Plan)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Набор тест-кейсов и тестов (Test Case &amp; Test suite)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Отчеты о дефектах (Bugs / Bug Reports)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Системы отслеживания ошибок	</a:t>
            </a:r>
            <a:endParaRPr sz="3600"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714" y="1693844"/>
            <a:ext cx="1637930" cy="77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7644" y="1672845"/>
            <a:ext cx="2330900" cy="81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5933" y="1914334"/>
            <a:ext cx="1259946" cy="33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7400" y="1714843"/>
            <a:ext cx="2771881" cy="734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43363" y="2598734"/>
            <a:ext cx="5879747" cy="3842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" sz="3600" dirty="0"/>
              <a:t>Системы отслеживания ошибок. Jira</a:t>
            </a:r>
            <a:endParaRPr sz="3600" dirty="0"/>
          </a:p>
          <a:p>
            <a:endParaRPr sz="3600" dirty="0"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68" y="1286195"/>
            <a:ext cx="9817078" cy="6331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" sz="3600" dirty="0"/>
              <a:t>Системы отслеживания ошибок. Mantis	</a:t>
            </a:r>
            <a:endParaRPr sz="3600" dirty="0"/>
          </a:p>
          <a:p>
            <a:pPr>
              <a:buClr>
                <a:schemeClr val="dk1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743" y="1290865"/>
            <a:ext cx="8776329" cy="6268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Системы отслеживания ошибок. Redmine	</a:t>
            </a:r>
            <a:endParaRPr sz="3600" dirty="0"/>
          </a:p>
          <a:p>
            <a:endParaRPr sz="3600" dirty="0"/>
          </a:p>
          <a:p>
            <a:endParaRPr sz="3600" dirty="0"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054" y="1627869"/>
            <a:ext cx="8885704" cy="5793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Тестовая документация</a:t>
            </a: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indent="-419976"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Test Plan</a:t>
            </a:r>
            <a:endParaRPr sz="2646">
              <a:solidFill>
                <a:srgbClr val="000000"/>
              </a:solidFill>
            </a:endParaRPr>
          </a:p>
          <a:p>
            <a:pPr indent="-419976">
              <a:buClr>
                <a:srgbClr val="000000"/>
              </a:buClr>
              <a:buSzPts val="2400"/>
            </a:pPr>
            <a:r>
              <a:rPr lang="ru" sz="2646">
                <a:solidFill>
                  <a:srgbClr val="000000"/>
                </a:solidFill>
              </a:rPr>
              <a:t>Test Cases</a:t>
            </a:r>
            <a:endParaRPr sz="2646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043" y="2719465"/>
            <a:ext cx="8784235" cy="4862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Цели тестирования	</a:t>
            </a:r>
            <a:endParaRPr sz="3600" dirty="0"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2400" dirty="0"/>
              <a:t>Повысить вероятность того, что приложение будет работать правильно при любых обстоятельствах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Повысить вероятность того, что приложение будет соответствовать всем описанным требованиям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Провести полное тестирование приложения за короткий срок</a:t>
            </a:r>
            <a:endParaRPr sz="2400" dirty="0"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Задачи тестирования	</a:t>
            </a:r>
            <a:endParaRPr sz="3600" dirty="0"/>
          </a:p>
        </p:txBody>
      </p:sp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2000" dirty="0"/>
              <a:t>Проверить, что система работает в соответствии с определенными временами отклика клиента и сервера.</a:t>
            </a:r>
            <a:endParaRPr sz="2000" dirty="0"/>
          </a:p>
          <a:p>
            <a:r>
              <a:rPr lang="ru" sz="2000" dirty="0"/>
              <a:t>Проверить, что наиболее критические последовательности действий с системой конечного пользователя выполняются верно.</a:t>
            </a:r>
            <a:endParaRPr sz="2000" dirty="0"/>
          </a:p>
          <a:p>
            <a:r>
              <a:rPr lang="ru" sz="2000" dirty="0"/>
              <a:t>Проверить работу пользовательских интерфейсов</a:t>
            </a:r>
            <a:endParaRPr sz="2000" dirty="0"/>
          </a:p>
          <a:p>
            <a:r>
              <a:rPr lang="ru" sz="2000" dirty="0"/>
              <a:t>Проверить, что изменения в базах данных не оказывают неблагоприятного влияния на существующие программные модули.</a:t>
            </a:r>
            <a:endParaRPr sz="2000" dirty="0"/>
          </a:p>
          <a:p>
            <a:r>
              <a:rPr lang="ru" sz="2000" dirty="0"/>
              <a:t>При проектировании тестов свести к минимуму переработку тестов при возможных изменениях приложения.</a:t>
            </a:r>
            <a:endParaRPr sz="2000" dirty="0"/>
          </a:p>
          <a:p>
            <a:r>
              <a:rPr lang="ru" sz="2000" dirty="0"/>
              <a:t>Использовать инструменты автоматизированного тестирования там, где это целесообразно.</a:t>
            </a:r>
            <a:endParaRPr sz="2000" dirty="0"/>
          </a:p>
          <a:p>
            <a:r>
              <a:rPr lang="ru" sz="2000" dirty="0"/>
              <a:t>Проводить тестирование таким образом, чтобы не только обнаруживать, но и предупреждать дефекты.</a:t>
            </a:r>
            <a:endParaRPr sz="2000" dirty="0"/>
          </a:p>
          <a:p>
            <a:r>
              <a:rPr lang="ru" sz="2000" dirty="0"/>
              <a:t>При проектировании автоматизированных тестов использовать стандарты разработки таким образом, чтобы создать многократно используемые и сопровождаемые скрипты.</a:t>
            </a: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Объекты тестирования</a:t>
            </a:r>
            <a:endParaRPr sz="3600" dirty="0"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2400" dirty="0"/>
              <a:t>работа программы</a:t>
            </a:r>
            <a:endParaRPr sz="2400" dirty="0"/>
          </a:p>
          <a:p>
            <a:r>
              <a:rPr lang="ru" sz="2400" dirty="0"/>
              <a:t>качество ее кода и понятность комментариев</a:t>
            </a:r>
            <a:endParaRPr sz="2400" dirty="0"/>
          </a:p>
          <a:p>
            <a:r>
              <a:rPr lang="ru" sz="2400" dirty="0"/>
              <a:t>быстродействие</a:t>
            </a:r>
            <a:endParaRPr sz="2400" dirty="0"/>
          </a:p>
          <a:p>
            <a:r>
              <a:rPr lang="ru" sz="2400" dirty="0"/>
              <a:t>устойчивость под большой нагрузкой</a:t>
            </a:r>
            <a:endParaRPr sz="2400" dirty="0"/>
          </a:p>
          <a:p>
            <a:r>
              <a:rPr lang="ru" sz="2400" dirty="0"/>
              <a:t>расход ресурсов (памяти, диска, потери этих ресурсов)</a:t>
            </a:r>
            <a:endParaRPr sz="2400" dirty="0"/>
          </a:p>
          <a:p>
            <a:r>
              <a:rPr lang="ru" sz="2400" dirty="0"/>
              <a:t>взаимодействие с другими программами</a:t>
            </a:r>
            <a:endParaRPr sz="2400" dirty="0"/>
          </a:p>
          <a:p>
            <a:r>
              <a:rPr lang="ru" sz="2400" dirty="0"/>
              <a:t>стабильность работы</a:t>
            </a:r>
            <a:endParaRPr sz="2400" dirty="0"/>
          </a:p>
          <a:p>
            <a:r>
              <a:rPr lang="ru" sz="2400" dirty="0"/>
              <a:t>возможность работы на других платформах</a:t>
            </a:r>
            <a:endParaRPr sz="2400" dirty="0"/>
          </a:p>
          <a:p>
            <a:r>
              <a:rPr lang="ru" sz="2400" dirty="0"/>
              <a:t>удобство интерфейса</a:t>
            </a:r>
            <a:endParaRPr sz="2400" dirty="0"/>
          </a:p>
          <a:p>
            <a:r>
              <a:rPr lang="ru" sz="2400" dirty="0"/>
              <a:t>документацию к программе (смысловые и грамматические ошибки, понятность и полноту)</a:t>
            </a:r>
            <a:endParaRPr sz="2400" dirty="0"/>
          </a:p>
          <a:p>
            <a:r>
              <a:rPr lang="ru" sz="2400" dirty="0"/>
              <a:t>работу через сеть, работу аппаратного обеспечения</a:t>
            </a:r>
            <a:endParaRPr sz="2400" dirty="0"/>
          </a:p>
          <a:p>
            <a:r>
              <a:rPr lang="ru" sz="2400" dirty="0"/>
              <a:t>и т.п.</a:t>
            </a:r>
            <a:endParaRPr sz="2400" dirty="0"/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Критерии качества</a:t>
            </a:r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923" y="1941203"/>
            <a:ext cx="8892098" cy="4215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Место тестирования в ЖЦ ПО</a:t>
            </a: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468" y="1807245"/>
            <a:ext cx="5112674" cy="5611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Каскадная модель (waterfall)</a:t>
            </a:r>
            <a:endParaRPr sz="3600" dirty="0"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50" y="2152407"/>
            <a:ext cx="8956115" cy="325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200" dirty="0"/>
              <a:t>Стоимость бага в процессе разработки ПО	</a:t>
            </a:r>
            <a:endParaRPr sz="3200" dirty="0"/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714" y="1798178"/>
            <a:ext cx="9277077" cy="5021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200" dirty="0"/>
              <a:t>Стоимость бага в процессе разработки ПО	</a:t>
            </a:r>
            <a:endParaRPr sz="3200" dirty="0"/>
          </a:p>
        </p:txBody>
      </p:sp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16" y="3141645"/>
            <a:ext cx="10079568" cy="1612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Виды тестирования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indent="-398977">
              <a:buSzPts val="2100"/>
            </a:pPr>
            <a:r>
              <a:rPr lang="ru" sz="2315"/>
              <a:t>Функциональные:</a:t>
            </a:r>
            <a:endParaRPr sz="2315"/>
          </a:p>
          <a:p>
            <a:pPr lvl="1" indent="-370979">
              <a:spcBef>
                <a:spcPts val="0"/>
              </a:spcBef>
              <a:buSzPts val="1700"/>
            </a:pPr>
            <a:r>
              <a:rPr lang="ru" sz="1874"/>
              <a:t>Функциональное тестирование (Functional testing)</a:t>
            </a:r>
            <a:endParaRPr sz="1874"/>
          </a:p>
          <a:p>
            <a:pPr lvl="1" indent="-370979">
              <a:spcBef>
                <a:spcPts val="0"/>
              </a:spcBef>
              <a:buSzPts val="1700"/>
            </a:pPr>
            <a:r>
              <a:rPr lang="ru" sz="1874"/>
              <a:t>Тестирование безопасности (Security and Access Control Testing)</a:t>
            </a:r>
            <a:endParaRPr sz="1874"/>
          </a:p>
          <a:p>
            <a:pPr indent="-398977">
              <a:buSzPts val="2100"/>
            </a:pPr>
            <a:r>
              <a:rPr lang="ru" sz="2315"/>
              <a:t>Нефункциональные</a:t>
            </a:r>
            <a:endParaRPr sz="2315"/>
          </a:p>
          <a:p>
            <a:pPr lvl="1" indent="-370979">
              <a:spcBef>
                <a:spcPts val="0"/>
              </a:spcBef>
              <a:buSzPts val="1700"/>
            </a:pPr>
            <a:r>
              <a:rPr lang="ru" sz="1874"/>
              <a:t>Нагрузочное тестирование и тестирование производительности (Performance and Load Testing)</a:t>
            </a:r>
            <a:endParaRPr sz="1874"/>
          </a:p>
          <a:p>
            <a:pPr lvl="1" indent="-370979">
              <a:spcBef>
                <a:spcPts val="0"/>
              </a:spcBef>
              <a:buSzPts val="1700"/>
            </a:pPr>
            <a:r>
              <a:rPr lang="ru" sz="1874"/>
              <a:t>Тестирование удобства пользования (Usability Testing)</a:t>
            </a:r>
            <a:endParaRPr sz="1874"/>
          </a:p>
          <a:p>
            <a:pPr lvl="1" indent="-370979">
              <a:spcBef>
                <a:spcPts val="0"/>
              </a:spcBef>
              <a:buSzPts val="1700"/>
            </a:pPr>
            <a:r>
              <a:rPr lang="ru" sz="1874"/>
              <a:t>Конфигурационное тестирование (Configuration Testing)</a:t>
            </a:r>
            <a:endParaRPr sz="1874"/>
          </a:p>
          <a:p>
            <a:pPr indent="-398977">
              <a:buSzPts val="2100"/>
            </a:pPr>
            <a:r>
              <a:rPr lang="ru" sz="2315"/>
              <a:t>Связанные с изменениями</a:t>
            </a:r>
            <a:endParaRPr sz="2315"/>
          </a:p>
          <a:p>
            <a:pPr lvl="1" indent="-370979">
              <a:spcBef>
                <a:spcPts val="0"/>
              </a:spcBef>
              <a:buSzPts val="1700"/>
            </a:pPr>
            <a:r>
              <a:rPr lang="ru" sz="1874"/>
              <a:t>Регрессионное тестирование (Regression Testing)</a:t>
            </a:r>
            <a:endParaRPr sz="1874"/>
          </a:p>
          <a:p>
            <a:pPr indent="-398977">
              <a:buSzPts val="2100"/>
            </a:pPr>
            <a:r>
              <a:rPr lang="ru" sz="2315"/>
              <a:t>etc.</a:t>
            </a:r>
            <a:endParaRPr sz="2315"/>
          </a:p>
          <a:p>
            <a:pPr indent="-398977">
              <a:buSzPts val="2100"/>
            </a:pPr>
            <a:r>
              <a:rPr lang="ru" sz="2315"/>
              <a:t>Автоматизированное тестирование (Automated Testing)</a:t>
            </a:r>
            <a:endParaRPr sz="2315"/>
          </a:p>
          <a:p>
            <a:pPr marL="0" indent="0">
              <a:buNone/>
            </a:pPr>
            <a:endParaRPr sz="231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Тестирование документации</a:t>
            </a:r>
            <a:endParaRPr sz="3600" dirty="0"/>
          </a:p>
        </p:txBody>
      </p:sp>
      <p:sp>
        <p:nvSpPr>
          <p:cNvPr id="198" name="Google Shape;198;p3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2000" dirty="0"/>
              <a:t>Документация является одним из составных компонентов любой программной системы. Документация в зависимости от вида жизненного цикла ПО может создаваться на каждом из этапов. Контроль за качеством документации является одной из актуальных проблем в разработке.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2000" dirty="0"/>
              <a:t>Тестирование документации проводится для:</a:t>
            </a:r>
            <a:endParaRPr sz="2000" dirty="0"/>
          </a:p>
          <a:p>
            <a:pPr>
              <a:lnSpc>
                <a:spcPct val="150000"/>
              </a:lnSpc>
              <a:spcBef>
                <a:spcPts val="1764"/>
              </a:spcBef>
              <a:buAutoNum type="arabicPeriod"/>
            </a:pPr>
            <a:r>
              <a:rPr lang="ru" sz="2000" dirty="0"/>
              <a:t>Минимизации потенциальных рисков при реализации новой функциональности.</a:t>
            </a:r>
            <a:endParaRPr sz="2000" dirty="0"/>
          </a:p>
          <a:p>
            <a:pPr>
              <a:lnSpc>
                <a:spcPct val="150000"/>
              </a:lnSpc>
              <a:buAutoNum type="arabicPeriod"/>
            </a:pPr>
            <a:r>
              <a:rPr lang="ru" sz="2000" dirty="0"/>
              <a:t>Минимизации проблем доработки и сопровождения существующего программного обеспечения.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Вопросы</a:t>
            </a:r>
            <a:endParaRPr sz="3600" dirty="0"/>
          </a:p>
        </p:txBody>
      </p:sp>
      <p:sp>
        <p:nvSpPr>
          <p:cNvPr id="204" name="Google Shape;204;p3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ru" sz="2400" dirty="0"/>
              <a:t>Какую документацию нужно тестировать?</a:t>
            </a:r>
            <a:endParaRPr sz="2400" dirty="0"/>
          </a:p>
          <a:p>
            <a:pPr>
              <a:lnSpc>
                <a:spcPct val="150000"/>
              </a:lnSpc>
              <a:buAutoNum type="arabicPeriod"/>
            </a:pPr>
            <a:r>
              <a:rPr lang="ru" sz="2400" dirty="0"/>
              <a:t>На каком этапе ЖЦ разработки нужно тестировать документацию?</a:t>
            </a:r>
            <a:endParaRPr sz="2400" dirty="0"/>
          </a:p>
          <a:p>
            <a:pPr>
              <a:lnSpc>
                <a:spcPct val="150000"/>
              </a:lnSpc>
              <a:buAutoNum type="arabicPeriod"/>
            </a:pPr>
            <a:r>
              <a:rPr lang="ru" sz="2400" dirty="0"/>
              <a:t>Из каких шагов состоит тестирование документации?</a:t>
            </a:r>
            <a:endParaRPr sz="2400" dirty="0"/>
          </a:p>
          <a:p>
            <a:pPr>
              <a:lnSpc>
                <a:spcPct val="150000"/>
              </a:lnSpc>
              <a:buAutoNum type="arabicPeriod"/>
            </a:pPr>
            <a:r>
              <a:rPr lang="ru" sz="2400" dirty="0"/>
              <a:t>Когда тестирование документации оправдано?</a:t>
            </a:r>
            <a:endParaRPr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Виды тестируемой документации</a:t>
            </a:r>
            <a:endParaRPr sz="3600" dirty="0"/>
          </a:p>
        </p:txBody>
      </p:sp>
      <p:sp>
        <p:nvSpPr>
          <p:cNvPr id="210" name="Google Shape;210;p3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ru" sz="2000" dirty="0"/>
              <a:t>Документация, выполненная в строгом соответствии со стандартами (ГОСТ, ISO): ТЗ, спецификации, требования к ПО, инструкции, и т.д.</a:t>
            </a:r>
            <a:endParaRPr sz="2000" dirty="0"/>
          </a:p>
          <a:p>
            <a:pPr>
              <a:lnSpc>
                <a:spcPct val="150000"/>
              </a:lnSpc>
              <a:buAutoNum type="arabicPeriod"/>
            </a:pPr>
            <a:r>
              <a:rPr lang="ru" sz="2000" dirty="0"/>
              <a:t>Документация, выполненная по внутренним правилам команды или заказчика (документация, основанная на стандартах, сгенерированная документация).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2756" dirty="0"/>
              <a:t>Критерии качества в тестировании документации</a:t>
            </a:r>
            <a:endParaRPr sz="2756" dirty="0"/>
          </a:p>
        </p:txBody>
      </p:sp>
      <p:sp>
        <p:nvSpPr>
          <p:cNvPr id="216" name="Google Shape;216;p3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buAutoNum type="arabicPeriod"/>
            </a:pPr>
            <a:r>
              <a:rPr lang="ru" sz="2000" dirty="0"/>
              <a:t>Полнота. Каждый элемент функциональности должен был представлен в документе в требуемом объеме. Если описываются функциональные требования в ТЗ, то они должны давать полное представление, как должна работать система.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Однозначность. Интерпретация написанного в документе должна быть одинаковой для всех участников проекта.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Непротиворечивость. Документ проверяется на наличие конфликтных требований, на соответствие требований в разных разделах документа.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Актуальность. Документация и реально разработанный программный продукт соответствуют друг другу в один и тот же момент времени.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Структурированность. Структурные элементы документации позволяют пользователю осуществлять поиск нужной ему информации.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Тестируемость. Если описывается какая-либо функциональность, то должна быть возможность ее проверки на финальном этапе разработки. Если протестировать что-то невозможно, то каким образом будет проверяться завершенность разработки?</a:t>
            </a:r>
            <a:endParaRPr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Для чего тестировать документацию?</a:t>
            </a:r>
            <a:endParaRPr sz="3600" dirty="0"/>
          </a:p>
        </p:txBody>
      </p:sp>
      <p:sp>
        <p:nvSpPr>
          <p:cNvPr id="222" name="Google Shape;222;p3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ru" sz="2400" dirty="0"/>
              <a:t>Для ускорения процедуры тестирования. От детальности и точности описания функциональности зависит то, как быстро тестировщик сможет  выполнить тестирование.</a:t>
            </a:r>
            <a:endParaRPr sz="2400" dirty="0"/>
          </a:p>
          <a:p>
            <a:pPr>
              <a:lnSpc>
                <a:spcPct val="150000"/>
              </a:lnSpc>
              <a:buAutoNum type="arabicPeriod"/>
            </a:pPr>
            <a:r>
              <a:rPr lang="ru" sz="2400" dirty="0"/>
              <a:t>Для использования полной документации в качестве источника для создания </a:t>
            </a:r>
            <a:r>
              <a:rPr lang="ru" sz="2400" b="1" dirty="0"/>
              <a:t>тестовой документации</a:t>
            </a:r>
            <a:r>
              <a:rPr lang="ru" sz="2400" dirty="0"/>
              <a:t> и проектирования </a:t>
            </a:r>
            <a:r>
              <a:rPr lang="ru" sz="2400" b="1" dirty="0"/>
              <a:t>тест-планов.</a:t>
            </a:r>
            <a:endParaRPr sz="2400" b="1" dirty="0"/>
          </a:p>
          <a:p>
            <a:pPr>
              <a:lnSpc>
                <a:spcPct val="150000"/>
              </a:lnSpc>
              <a:buAutoNum type="arabicPeriod"/>
            </a:pPr>
            <a:r>
              <a:rPr lang="ru" sz="2400" dirty="0"/>
              <a:t>Для сокращения затрат на техническую поддержку.</a:t>
            </a:r>
            <a:endParaRPr sz="24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200" dirty="0"/>
              <a:t>Методы тестирования документации ПО</a:t>
            </a:r>
            <a:endParaRPr sz="3200" dirty="0"/>
          </a:p>
        </p:txBody>
      </p:sp>
      <p:sp>
        <p:nvSpPr>
          <p:cNvPr id="228" name="Google Shape;228;p3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buAutoNum type="arabicPeriod"/>
            </a:pPr>
            <a:r>
              <a:rPr lang="ru" sz="2000" dirty="0"/>
              <a:t>Рецензирование (анализ) документации разными группами специалистов. Анализ позволяет выявить проблемы, с которыми знаком каждый из экспертов своей области.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Пробное создание </a:t>
            </a:r>
            <a:r>
              <a:rPr lang="ru" sz="2000" b="1" dirty="0"/>
              <a:t>тест-кейсов (сценариев).</a:t>
            </a:r>
            <a:r>
              <a:rPr lang="ru" sz="2000" dirty="0"/>
              <a:t> Это трудоемкий вариант, но посредством такого подхода возможны модельные прогоны сценариев для выявления недостатков, устранения противоречий.</a:t>
            </a:r>
            <a:endParaRPr sz="2000" dirty="0"/>
          </a:p>
          <a:p>
            <a:pPr>
              <a:buAutoNum type="arabicPeriod"/>
            </a:pPr>
            <a:r>
              <a:rPr lang="ru" sz="2000" dirty="0"/>
              <a:t>Обсуждение на основе проектов и прототипов. Создаются наброски, позволяющие детализировать критические моменты системы и позволяющие в схематичном графическом виде удобно представить некоторые части будущей системы.</a:t>
            </a:r>
            <a:endParaRPr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3600" dirty="0"/>
              <a:t>Как проанализировать документацию</a:t>
            </a:r>
            <a:endParaRPr sz="3600" dirty="0"/>
          </a:p>
        </p:txBody>
      </p:sp>
      <p:sp>
        <p:nvSpPr>
          <p:cNvPr id="234" name="Google Shape;234;p4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ru"/>
              <a:t>Определить объем и вид документов, требующихся для конкретного вида жизненного цикла разработки и выбранной методологии разработки.</a:t>
            </a:r>
            <a:endParaRPr/>
          </a:p>
          <a:p>
            <a:pPr>
              <a:lnSpc>
                <a:spcPct val="150000"/>
              </a:lnSpc>
              <a:buAutoNum type="arabicPeriod"/>
            </a:pPr>
            <a:r>
              <a:rPr lang="ru"/>
              <a:t>Определить цели тестирования документации.</a:t>
            </a:r>
            <a:endParaRPr/>
          </a:p>
          <a:p>
            <a:pPr>
              <a:lnSpc>
                <a:spcPct val="150000"/>
              </a:lnSpc>
              <a:buAutoNum type="arabicPeriod"/>
            </a:pPr>
            <a:r>
              <a:rPr lang="ru"/>
              <a:t>Выбрать существующие документы и провести их анализ одним из выбранных способов.</a:t>
            </a:r>
            <a:endParaRPr/>
          </a:p>
          <a:p>
            <a:pPr>
              <a:lnSpc>
                <a:spcPct val="150000"/>
              </a:lnSpc>
              <a:buAutoNum type="arabicPeriod"/>
            </a:pPr>
            <a:r>
              <a:rPr lang="ru"/>
              <a:t>Оценить документацию по критериям, сформировать отчет о тестировании документации.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67280" y="390600"/>
            <a:ext cx="992484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Источники и литература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581040" y="1738539"/>
            <a:ext cx="9667440" cy="40825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285840" indent="-285480" algn="just">
              <a:spcBef>
                <a:spcPts val="601"/>
              </a:spcBef>
              <a:spcAft>
                <a:spcPts val="601"/>
              </a:spcAft>
              <a:buClr>
                <a:srgbClr val="004892"/>
              </a:buClr>
              <a:buFont typeface="Wingdings" charset="2"/>
              <a:buChar char=""/>
            </a:pPr>
            <a:endParaRPr lang="en-US" sz="1400" b="0" strike="noStrike" spc="-1" dirty="0">
              <a:latin typeface="Arial"/>
            </a:endParaRPr>
          </a:p>
          <a:p>
            <a:pPr algn="just"/>
            <a:endParaRPr lang="en-US" sz="1400" b="0" strike="noStrike" spc="-1" dirty="0">
              <a:latin typeface="Arial"/>
            </a:endParaRPr>
          </a:p>
        </p:txBody>
      </p:sp>
      <p:sp>
        <p:nvSpPr>
          <p:cNvPr id="7" name="Google Shape;79;p17">
            <a:extLst>
              <a:ext uri="{FF2B5EF4-FFF2-40B4-BE49-F238E27FC236}">
                <a16:creationId xmlns:a16="http://schemas.microsoft.com/office/drawing/2014/main" id="{9ED5121D-18BD-4D17-AC7C-B183B10B8861}"/>
              </a:ext>
            </a:extLst>
          </p:cNvPr>
          <p:cNvSpPr txBox="1">
            <a:spLocks/>
          </p:cNvSpPr>
          <p:nvPr/>
        </p:nvSpPr>
        <p:spPr>
          <a:xfrm>
            <a:off x="364462" y="1693854"/>
            <a:ext cx="9962890" cy="5021264"/>
          </a:xfrm>
          <a:prstGeom prst="rect">
            <a:avLst/>
          </a:prstGeom>
        </p:spPr>
        <p:txBody>
          <a:bodyPr spcFirstLastPara="1" wrap="square" lIns="104270" tIns="104270" rIns="104270" bIns="10427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литература, библиотека, статьи</a:t>
            </a:r>
            <a:r>
              <a:rPr lang="en-US" sz="1800" dirty="0"/>
              <a:t> </a:t>
            </a:r>
            <a:r>
              <a:rPr lang="ru-RU" sz="1800" dirty="0"/>
              <a:t>http://software-testing.ru/</a:t>
            </a:r>
          </a:p>
          <a:p>
            <a:pPr marL="346075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ru-RU" sz="1800" dirty="0"/>
          </a:p>
          <a:p>
            <a:pPr marL="346075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основные понятия</a:t>
            </a:r>
            <a:r>
              <a:rPr lang="en-US" sz="1800" dirty="0"/>
              <a:t> </a:t>
            </a:r>
            <a:r>
              <a:rPr lang="ru-RU" sz="1800" dirty="0"/>
              <a:t>http://www.protesting.ru/</a:t>
            </a:r>
          </a:p>
        </p:txBody>
      </p:sp>
    </p:spTree>
    <p:extLst>
      <p:ext uri="{BB962C8B-B14F-4D97-AF65-F5344CB8AC3E}">
        <p14:creationId xmlns:p14="http://schemas.microsoft.com/office/powerpoint/2010/main" val="1278845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945</TotalTime>
  <Words>1105</Words>
  <Application>Microsoft Office PowerPoint</Application>
  <PresentationFormat>Произвольный</PresentationFormat>
  <Paragraphs>139</Paragraphs>
  <Slides>30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30</vt:i4>
      </vt:variant>
    </vt:vector>
  </HeadingPairs>
  <TitlesOfParts>
    <vt:vector size="42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Office Theme</vt:lpstr>
      <vt:lpstr>Презентация PowerPoint</vt:lpstr>
      <vt:lpstr>Понятие</vt:lpstr>
      <vt:lpstr>Задачи</vt:lpstr>
      <vt:lpstr>QA, QC, Testing: объемы работ</vt:lpstr>
      <vt:lpstr>Презентация PowerPoint</vt:lpstr>
      <vt:lpstr>Источники ожидаемого поведения</vt:lpstr>
      <vt:lpstr>Артефакты тестирования </vt:lpstr>
      <vt:lpstr>Системы отслеживания ошибок </vt:lpstr>
      <vt:lpstr>Системы отслеживания ошибок. Jira </vt:lpstr>
      <vt:lpstr>Системы отслеживания ошибок. Mantis   </vt:lpstr>
      <vt:lpstr>Системы отслеживания ошибок. Redmine   </vt:lpstr>
      <vt:lpstr>Тестовая документация</vt:lpstr>
      <vt:lpstr>Цели тестирования </vt:lpstr>
      <vt:lpstr>Задачи тестирования </vt:lpstr>
      <vt:lpstr>Объекты тестирования</vt:lpstr>
      <vt:lpstr>Критерии качества</vt:lpstr>
      <vt:lpstr>Место тестирования в ЖЦ ПО</vt:lpstr>
      <vt:lpstr>Каскадная модель (waterfall)</vt:lpstr>
      <vt:lpstr>Стоимость бага в процессе разработки ПО </vt:lpstr>
      <vt:lpstr>Стоимость бага в процессе разработки ПО </vt:lpstr>
      <vt:lpstr>Виды тестирования</vt:lpstr>
      <vt:lpstr>Тестирование документации</vt:lpstr>
      <vt:lpstr>Вопросы</vt:lpstr>
      <vt:lpstr>Виды тестируемой документации</vt:lpstr>
      <vt:lpstr>Критерии качества в тестировании документации</vt:lpstr>
      <vt:lpstr>Для чего тестировать документацию?</vt:lpstr>
      <vt:lpstr>Методы тестирования документации ПО</vt:lpstr>
      <vt:lpstr>Как проанализировать документацию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Anton Romanov</cp:lastModifiedBy>
  <cp:revision>173</cp:revision>
  <dcterms:created xsi:type="dcterms:W3CDTF">2019-09-16T12:04:13Z</dcterms:created>
  <dcterms:modified xsi:type="dcterms:W3CDTF">2022-10-18T11:16:20Z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