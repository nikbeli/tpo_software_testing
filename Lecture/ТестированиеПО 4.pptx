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60" r:id="rId15"/>
  </p:sldIdLst>
  <p:sldSz cx="10691813" cy="7559675"/>
  <p:notesSz cx="7559675" cy="10691813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81">
          <p15:clr>
            <a:srgbClr val="A4A3A4"/>
          </p15:clr>
        </p15:guide>
        <p15:guide id="2" pos="336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367">
          <p15:clr>
            <a:srgbClr val="A4A3A4"/>
          </p15:clr>
        </p15:guide>
        <p15:guide id="2" pos="238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0" autoAdjust="0"/>
    <p:restoredTop sz="94660"/>
  </p:normalViewPr>
  <p:slideViewPr>
    <p:cSldViewPr snapToGrid="0">
      <p:cViewPr varScale="1">
        <p:scale>
          <a:sx n="75" d="100"/>
          <a:sy n="75" d="100"/>
        </p:scale>
        <p:origin x="1118" y="67"/>
      </p:cViewPr>
      <p:guideLst>
        <p:guide orient="horz" pos="2381"/>
        <p:guide pos="336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7" d="100"/>
          <a:sy n="57" d="100"/>
        </p:scale>
        <p:origin x="-3259" y="-91"/>
      </p:cViewPr>
      <p:guideLst>
        <p:guide orient="horz" pos="3367"/>
        <p:guide pos="238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49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49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8838A3-E109-4F1D-9FCC-EF09B935682D}" type="datetimeFigureOut">
              <a:rPr lang="ru-RU" smtClean="0"/>
              <a:t>18.10.2022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49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49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92A091-47E7-4B68-B6F0-E4FEA3D8FB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96976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49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49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052000-7BA7-4E98-9AAA-4FCE25FD58C5}" type="datetimeFigureOut">
              <a:rPr lang="ru-RU" smtClean="0"/>
              <a:t>18.10.2022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944563" y="801688"/>
            <a:ext cx="5670550" cy="40100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755650" y="5078413"/>
            <a:ext cx="6048375" cy="4811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49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49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E1EDE4-ECEF-4344-A377-B4F7BE165A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389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ffd420ec5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ffd420ec5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117038f93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117038f93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117038f93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117038f93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117038f93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117038f93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117038f93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117038f93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117038f93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2117038f93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117038f93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2117038f93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117038f93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117038f93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117038f93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117038f93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117038f93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2117038f93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d94c328bc3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d94c328bc3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d944f210c2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d944f210c2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34240" y="1768680"/>
            <a:ext cx="9622080" cy="43840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34240" y="1768680"/>
            <a:ext cx="9622080" cy="438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34240" y="1768680"/>
            <a:ext cx="4695480" cy="438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5464800" y="1768680"/>
            <a:ext cx="4695480" cy="438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801720" y="1237320"/>
            <a:ext cx="9087840" cy="121996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34240" y="176868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5464800" y="1768680"/>
            <a:ext cx="4695480" cy="438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534240" y="405864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534240" y="1768680"/>
            <a:ext cx="4695480" cy="438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5464800" y="176868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5464800" y="405864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534240" y="176868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5464800" y="176868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534240" y="4058640"/>
            <a:ext cx="96220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34240" y="1768680"/>
            <a:ext cx="96220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34240" y="4058640"/>
            <a:ext cx="96220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534240" y="176868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5464800" y="176868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534240" y="405864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5464800" y="405864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534240" y="1768680"/>
            <a:ext cx="309816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3787560" y="1768680"/>
            <a:ext cx="309816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7041240" y="1768680"/>
            <a:ext cx="309816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534240" y="4058640"/>
            <a:ext cx="309816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3787560" y="4058640"/>
            <a:ext cx="309816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7041240" y="4058640"/>
            <a:ext cx="309816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64462" y="654077"/>
            <a:ext cx="9962890" cy="84161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b="1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b="1">
                <a:latin typeface="Arial"/>
                <a:ea typeface="Arial"/>
                <a:cs typeface="Arial"/>
                <a:sym typeface="Arial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b="1">
                <a:latin typeface="Arial"/>
                <a:ea typeface="Arial"/>
                <a:cs typeface="Arial"/>
                <a:sym typeface="Arial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b="1">
                <a:latin typeface="Arial"/>
                <a:ea typeface="Arial"/>
                <a:cs typeface="Arial"/>
                <a:sym typeface="Arial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b="1">
                <a:latin typeface="Arial"/>
                <a:ea typeface="Arial"/>
                <a:cs typeface="Arial"/>
                <a:sym typeface="Arial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b="1">
                <a:latin typeface="Arial"/>
                <a:ea typeface="Arial"/>
                <a:cs typeface="Arial"/>
                <a:sym typeface="Arial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b="1">
                <a:latin typeface="Arial"/>
                <a:ea typeface="Arial"/>
                <a:cs typeface="Arial"/>
                <a:sym typeface="Arial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b="1">
                <a:latin typeface="Arial"/>
                <a:ea typeface="Arial"/>
                <a:cs typeface="Arial"/>
                <a:sym typeface="Arial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b="1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64462" y="1693854"/>
            <a:ext cx="9962890" cy="502126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503972" lvl="0" indent="-377979" algn="just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  <a:defRPr>
                <a:latin typeface="Arial"/>
                <a:ea typeface="Arial"/>
                <a:cs typeface="Arial"/>
                <a:sym typeface="Arial"/>
              </a:defRPr>
            </a:lvl1pPr>
            <a:lvl2pPr marL="1007943" lvl="1" indent="-349980" algn="just">
              <a:spcBef>
                <a:spcPts val="1764"/>
              </a:spcBef>
              <a:spcAft>
                <a:spcPts val="0"/>
              </a:spcAft>
              <a:buSzPts val="1400"/>
              <a:buFont typeface="Arial"/>
              <a:buChar char="○"/>
              <a:defRPr>
                <a:latin typeface="Arial"/>
                <a:ea typeface="Arial"/>
                <a:cs typeface="Arial"/>
                <a:sym typeface="Arial"/>
              </a:defRPr>
            </a:lvl2pPr>
            <a:lvl3pPr marL="1511915" lvl="2" indent="-349980" algn="just">
              <a:spcBef>
                <a:spcPts val="1764"/>
              </a:spcBef>
              <a:spcAft>
                <a:spcPts val="0"/>
              </a:spcAft>
              <a:buSzPts val="1400"/>
              <a:buFont typeface="Arial"/>
              <a:buChar char="■"/>
              <a:defRPr>
                <a:latin typeface="Arial"/>
                <a:ea typeface="Arial"/>
                <a:cs typeface="Arial"/>
                <a:sym typeface="Arial"/>
              </a:defRPr>
            </a:lvl3pPr>
            <a:lvl4pPr marL="2015886" lvl="3" indent="-349980" algn="just">
              <a:spcBef>
                <a:spcPts val="1764"/>
              </a:spcBef>
              <a:spcAft>
                <a:spcPts val="0"/>
              </a:spcAft>
              <a:buSzPts val="1400"/>
              <a:buFont typeface="Arial"/>
              <a:buChar char="●"/>
              <a:defRPr>
                <a:latin typeface="Arial"/>
                <a:ea typeface="Arial"/>
                <a:cs typeface="Arial"/>
                <a:sym typeface="Arial"/>
              </a:defRPr>
            </a:lvl4pPr>
            <a:lvl5pPr marL="2519858" lvl="4" indent="-349980" algn="just">
              <a:spcBef>
                <a:spcPts val="1764"/>
              </a:spcBef>
              <a:spcAft>
                <a:spcPts val="0"/>
              </a:spcAft>
              <a:buSzPts val="1400"/>
              <a:buFont typeface="Arial"/>
              <a:buChar char="○"/>
              <a:defRPr>
                <a:latin typeface="Arial"/>
                <a:ea typeface="Arial"/>
                <a:cs typeface="Arial"/>
                <a:sym typeface="Arial"/>
              </a:defRPr>
            </a:lvl5pPr>
            <a:lvl6pPr marL="3023829" lvl="5" indent="-349980" algn="just">
              <a:spcBef>
                <a:spcPts val="1764"/>
              </a:spcBef>
              <a:spcAft>
                <a:spcPts val="0"/>
              </a:spcAft>
              <a:buSzPts val="1400"/>
              <a:buFont typeface="Arial"/>
              <a:buChar char="■"/>
              <a:defRPr>
                <a:latin typeface="Arial"/>
                <a:ea typeface="Arial"/>
                <a:cs typeface="Arial"/>
                <a:sym typeface="Arial"/>
              </a:defRPr>
            </a:lvl6pPr>
            <a:lvl7pPr marL="3527801" lvl="6" indent="-349980" algn="just">
              <a:spcBef>
                <a:spcPts val="1764"/>
              </a:spcBef>
              <a:spcAft>
                <a:spcPts val="0"/>
              </a:spcAft>
              <a:buSzPts val="1400"/>
              <a:buFont typeface="Arial"/>
              <a:buChar char="●"/>
              <a:defRPr>
                <a:latin typeface="Arial"/>
                <a:ea typeface="Arial"/>
                <a:cs typeface="Arial"/>
                <a:sym typeface="Arial"/>
              </a:defRPr>
            </a:lvl7pPr>
            <a:lvl8pPr marL="4031772" lvl="7" indent="-349980" algn="just">
              <a:spcBef>
                <a:spcPts val="1764"/>
              </a:spcBef>
              <a:spcAft>
                <a:spcPts val="0"/>
              </a:spcAft>
              <a:buSzPts val="1400"/>
              <a:buFont typeface="Arial"/>
              <a:buChar char="○"/>
              <a:defRPr>
                <a:latin typeface="Arial"/>
                <a:ea typeface="Arial"/>
                <a:cs typeface="Arial"/>
                <a:sym typeface="Arial"/>
              </a:defRPr>
            </a:lvl8pPr>
            <a:lvl9pPr marL="4535744" lvl="8" indent="-349980" algn="just">
              <a:spcBef>
                <a:spcPts val="1764"/>
              </a:spcBef>
              <a:spcAft>
                <a:spcPts val="1764"/>
              </a:spcAft>
              <a:buSzPts val="1400"/>
              <a:buFont typeface="Arial"/>
              <a:buChar char="■"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9906598" y="6853777"/>
            <a:ext cx="641579" cy="57838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fld id="{00000000-1234-1234-1234-123412341234}" type="slidenum">
              <a:rPr lang="ru" smtClean="0"/>
              <a:pPr algn="r"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1244146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5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anchor="b">
            <a:noAutofit/>
          </a:bodyPr>
          <a:lstStyle/>
          <a:p>
            <a:pPr algn="ctr">
              <a:lnSpc>
                <a:spcPct val="90000"/>
              </a:lnSpc>
            </a:pPr>
            <a:r>
              <a:rPr lang="ru-RU" sz="6619" b="0" strike="noStrike" spc="-1">
                <a:solidFill>
                  <a:srgbClr val="000000"/>
                </a:solidFill>
                <a:latin typeface="Geometria  bold"/>
              </a:rPr>
              <a:t>Образец заголовка</a:t>
            </a:r>
            <a:endParaRPr lang="en-US" sz="6619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/>
          </p:nvPr>
        </p:nvSpPr>
        <p:spPr>
          <a:xfrm>
            <a:off x="735120" y="7006680"/>
            <a:ext cx="2405160" cy="4021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87095A16-4C3A-49BC-BA45-ED63D8DC7979}" type="datetime">
              <a:rPr lang="ru-RU" sz="1330" b="0" strike="noStrike" spc="-1">
                <a:solidFill>
                  <a:srgbClr val="8B8B8B"/>
                </a:solidFill>
                <a:latin typeface="Geometria light"/>
              </a:rPr>
              <a:t>18.10.2022</a:t>
            </a:fld>
            <a:endParaRPr lang="en-US" sz="1330" b="0" strike="noStrike" spc="-1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3541680" y="7006680"/>
            <a:ext cx="3608280" cy="4021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7551000" y="7006680"/>
            <a:ext cx="2405160" cy="4021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CC19D91D-1076-4D88-80F8-03FFDA14860F}" type="slidenum">
              <a:rPr lang="ru-RU" sz="1330" b="0" strike="noStrike" spc="-1">
                <a:solidFill>
                  <a:srgbClr val="8B8B8B"/>
                </a:solidFill>
                <a:latin typeface="Geometria light"/>
              </a:rPr>
              <a:t>‹#›</a:t>
            </a:fld>
            <a:endParaRPr lang="en-US" sz="1330" b="0" strike="noStrike" spc="-1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34240" y="1768680"/>
            <a:ext cx="9622080" cy="438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090" b="0" strike="noStrike" spc="-1">
                <a:solidFill>
                  <a:srgbClr val="000000"/>
                </a:solidFill>
                <a:latin typeface="Geometria light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210" b="0" strike="noStrike" spc="-1">
                <a:solidFill>
                  <a:srgbClr val="000000"/>
                </a:solidFill>
                <a:latin typeface="Geometria light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990" b="0" strike="noStrike" spc="-1">
                <a:solidFill>
                  <a:srgbClr val="000000"/>
                </a:solidFill>
                <a:latin typeface="Geometria light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990" b="0" strike="noStrike" spc="-1">
                <a:solidFill>
                  <a:srgbClr val="000000"/>
                </a:solidFill>
                <a:latin typeface="Geometria light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Geometria light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Geometria light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Geometria light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lab.com/gitlab-org/gitlab/-/issues/331479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bugzilla.mozilla.org/show_bug.cgi?id=864072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git-extractor.athene.tech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Shape 1"/>
          <p:cNvSpPr txBox="1"/>
          <p:nvPr/>
        </p:nvSpPr>
        <p:spPr>
          <a:xfrm>
            <a:off x="581040" y="800280"/>
            <a:ext cx="8048160" cy="22971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4800" b="0" strike="noStrike" spc="-1" dirty="0">
                <a:solidFill>
                  <a:srgbClr val="004892"/>
                </a:solidFill>
                <a:latin typeface="Montserrat Bold"/>
              </a:rPr>
              <a:t>Тестирование программного обеспечения</a:t>
            </a:r>
            <a:endParaRPr lang="en-US" sz="4800" b="0" strike="noStrike" spc="-1" dirty="0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83" name="CustomShape 2"/>
          <p:cNvSpPr/>
          <p:nvPr/>
        </p:nvSpPr>
        <p:spPr>
          <a:xfrm>
            <a:off x="0" y="6862680"/>
            <a:ext cx="10691280" cy="458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 dirty="0">
                <a:solidFill>
                  <a:srgbClr val="173277"/>
                </a:solidFill>
                <a:latin typeface="Montserrat"/>
              </a:rPr>
              <a:t>202</a:t>
            </a:r>
            <a:r>
              <a:rPr lang="ru-RU" sz="1600" b="0" strike="noStrike" spc="-1" dirty="0">
                <a:solidFill>
                  <a:srgbClr val="173277"/>
                </a:solidFill>
                <a:latin typeface="Montserrat"/>
              </a:rPr>
              <a:t>2</a:t>
            </a:r>
            <a:endParaRPr lang="en-US" sz="1600" b="0" strike="noStrike" spc="-1" dirty="0">
              <a:latin typeface="Arial"/>
            </a:endParaRPr>
          </a:p>
        </p:txBody>
      </p:sp>
      <p:pic>
        <p:nvPicPr>
          <p:cNvPr id="84" name="Рисунок 2"/>
          <p:cNvPicPr/>
          <p:nvPr/>
        </p:nvPicPr>
        <p:blipFill>
          <a:blip r:embed="rId3"/>
          <a:stretch/>
        </p:blipFill>
        <p:spPr>
          <a:xfrm>
            <a:off x="4115160" y="5178600"/>
            <a:ext cx="2232360" cy="1426680"/>
          </a:xfrm>
          <a:prstGeom prst="rect">
            <a:avLst/>
          </a:prstGeom>
          <a:ln>
            <a:noFill/>
          </a:ln>
        </p:spPr>
      </p:pic>
      <p:sp>
        <p:nvSpPr>
          <p:cNvPr id="85" name="CustomShape 3"/>
          <p:cNvSpPr/>
          <p:nvPr/>
        </p:nvSpPr>
        <p:spPr>
          <a:xfrm>
            <a:off x="581040" y="2624040"/>
            <a:ext cx="8048160" cy="2297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endParaRPr lang="en-US" sz="2000" spc="-1" dirty="0">
              <a:solidFill>
                <a:srgbClr val="004892"/>
              </a:solidFill>
              <a:latin typeface="Montserrat"/>
            </a:endParaRPr>
          </a:p>
          <a:p>
            <a:pPr>
              <a:lnSpc>
                <a:spcPct val="100000"/>
              </a:lnSpc>
            </a:pPr>
            <a:endParaRPr lang="en-US" sz="2000" spc="-1" dirty="0">
              <a:solidFill>
                <a:srgbClr val="004892"/>
              </a:solidFill>
              <a:latin typeface="Montserrat"/>
            </a:endParaRPr>
          </a:p>
          <a:p>
            <a:pPr>
              <a:lnSpc>
                <a:spcPct val="100000"/>
              </a:lnSpc>
            </a:pPr>
            <a:r>
              <a:rPr lang="ru-RU" sz="2000" spc="-1" dirty="0">
                <a:solidFill>
                  <a:srgbClr val="004892"/>
                </a:solidFill>
                <a:latin typeface="Montserrat"/>
              </a:rPr>
              <a:t>Дефекты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5220719" y="3595172"/>
            <a:ext cx="2487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 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DF50D9F-501E-4D8A-A3DD-C3F410680F6D}"/>
              </a:ext>
            </a:extLst>
          </p:cNvPr>
          <p:cNvSpPr/>
          <p:nvPr/>
        </p:nvSpPr>
        <p:spPr>
          <a:xfrm>
            <a:off x="5220719" y="3595172"/>
            <a:ext cx="2487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r>
              <a:rPr lang="ru" b="1"/>
              <a:t>Bug</a:t>
            </a:r>
            <a:endParaRPr b="1"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 marL="0" indent="0">
              <a:spcAft>
                <a:spcPts val="1764"/>
              </a:spcAft>
              <a:buNone/>
            </a:pPr>
            <a:r>
              <a:rPr lang="ru" sz="2646" b="1">
                <a:solidFill>
                  <a:srgbClr val="000000"/>
                </a:solidFill>
              </a:rPr>
              <a:t>Bug (дефект, баг)</a:t>
            </a:r>
            <a:r>
              <a:rPr lang="ru" sz="2646">
                <a:solidFill>
                  <a:srgbClr val="000000"/>
                </a:solidFill>
              </a:rPr>
              <a:t> – несоответствие ожидаемого и фактического поведения системы</a:t>
            </a:r>
            <a:endParaRPr sz="2646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r>
              <a:rPr lang="ru" b="1"/>
              <a:t>Жизненный цикл дефекта</a:t>
            </a:r>
            <a:endParaRPr b="1"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>
              <a:lnSpc>
                <a:spcPct val="150000"/>
              </a:lnSpc>
              <a:buClr>
                <a:srgbClr val="000000"/>
              </a:buClr>
            </a:pPr>
            <a:r>
              <a:rPr lang="ru">
                <a:solidFill>
                  <a:srgbClr val="000000"/>
                </a:solidFill>
              </a:rPr>
              <a:t>NEW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  <a:buClr>
                <a:srgbClr val="000000"/>
              </a:buClr>
            </a:pPr>
            <a:r>
              <a:rPr lang="ru">
                <a:solidFill>
                  <a:srgbClr val="000000"/>
                </a:solidFill>
              </a:rPr>
              <a:t>ASSIGNED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  <a:buClr>
                <a:srgbClr val="000000"/>
              </a:buClr>
            </a:pPr>
            <a:r>
              <a:rPr lang="ru">
                <a:solidFill>
                  <a:srgbClr val="000000"/>
                </a:solidFill>
              </a:rPr>
              <a:t>RESOLVED = FIXED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  <a:buClr>
                <a:srgbClr val="000000"/>
              </a:buClr>
            </a:pPr>
            <a:r>
              <a:rPr lang="ru">
                <a:solidFill>
                  <a:srgbClr val="000000"/>
                </a:solidFill>
              </a:rPr>
              <a:t>DUPLICATE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  <a:buClr>
                <a:srgbClr val="000000"/>
              </a:buClr>
            </a:pPr>
            <a:r>
              <a:rPr lang="ru">
                <a:solidFill>
                  <a:srgbClr val="000000"/>
                </a:solidFill>
              </a:rPr>
              <a:t>INVALID (IT’S A FEATURE)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  <a:buClr>
                <a:srgbClr val="000000"/>
              </a:buClr>
            </a:pPr>
            <a:r>
              <a:rPr lang="ru">
                <a:solidFill>
                  <a:srgbClr val="000000"/>
                </a:solidFill>
              </a:rPr>
              <a:t>WORKSFORME (cann’t be reproduced)</a:t>
            </a:r>
            <a:endParaRPr>
              <a:solidFill>
                <a:srgbClr val="000000"/>
              </a:solidFill>
            </a:endParaRPr>
          </a:p>
          <a:p>
            <a:pPr marL="0" indent="0">
              <a:lnSpc>
                <a:spcPct val="150000"/>
              </a:lnSpc>
              <a:spcBef>
                <a:spcPts val="1764"/>
              </a:spcBef>
              <a:spcAft>
                <a:spcPts val="1764"/>
              </a:spcAft>
              <a:buNone/>
            </a:pP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r>
              <a:rPr lang="ru" b="1"/>
              <a:t>Описание дефекта.</a:t>
            </a:r>
            <a:endParaRPr b="1"/>
          </a:p>
        </p:txBody>
      </p:sp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 marL="0" indent="0">
              <a:buClr>
                <a:schemeClr val="dk1"/>
              </a:buClr>
              <a:buSzPts val="1100"/>
              <a:buNone/>
            </a:pPr>
            <a:r>
              <a:rPr lang="ru" sz="2646">
                <a:solidFill>
                  <a:srgbClr val="000000"/>
                </a:solidFill>
              </a:rPr>
              <a:t>Поля bug report’а</a:t>
            </a:r>
            <a:endParaRPr sz="2646">
              <a:solidFill>
                <a:srgbClr val="000000"/>
              </a:solidFill>
            </a:endParaRPr>
          </a:p>
          <a:p>
            <a:pPr indent="-419976">
              <a:lnSpc>
                <a:spcPct val="150000"/>
              </a:lnSpc>
              <a:spcBef>
                <a:spcPts val="1764"/>
              </a:spcBef>
              <a:buClr>
                <a:srgbClr val="000000"/>
              </a:buClr>
              <a:buSzPts val="2400"/>
            </a:pPr>
            <a:r>
              <a:rPr lang="ru" sz="2646">
                <a:solidFill>
                  <a:srgbClr val="000000"/>
                </a:solidFill>
              </a:rPr>
              <a:t>Краткое описание (Summary)</a:t>
            </a:r>
            <a:endParaRPr sz="2646">
              <a:solidFill>
                <a:srgbClr val="000000"/>
              </a:solidFill>
            </a:endParaRPr>
          </a:p>
          <a:p>
            <a:pPr indent="-419976">
              <a:lnSpc>
                <a:spcPct val="150000"/>
              </a:lnSpc>
              <a:buClr>
                <a:srgbClr val="000000"/>
              </a:buClr>
              <a:buSzPts val="2400"/>
            </a:pPr>
            <a:r>
              <a:rPr lang="ru" sz="2646">
                <a:solidFill>
                  <a:srgbClr val="000000"/>
                </a:solidFill>
              </a:rPr>
              <a:t>Серьезность (Severity)</a:t>
            </a:r>
            <a:endParaRPr sz="2646">
              <a:solidFill>
                <a:srgbClr val="000000"/>
              </a:solidFill>
            </a:endParaRPr>
          </a:p>
          <a:p>
            <a:pPr indent="-419976">
              <a:lnSpc>
                <a:spcPct val="150000"/>
              </a:lnSpc>
              <a:buClr>
                <a:srgbClr val="000000"/>
              </a:buClr>
              <a:buSzPts val="2400"/>
            </a:pPr>
            <a:r>
              <a:rPr lang="ru" sz="2646">
                <a:solidFill>
                  <a:srgbClr val="000000"/>
                </a:solidFill>
              </a:rPr>
              <a:t>Приоритет</a:t>
            </a:r>
            <a:endParaRPr sz="2646">
              <a:solidFill>
                <a:srgbClr val="000000"/>
              </a:solidFill>
            </a:endParaRPr>
          </a:p>
          <a:p>
            <a:pPr indent="-419976">
              <a:lnSpc>
                <a:spcPct val="150000"/>
              </a:lnSpc>
              <a:buClr>
                <a:srgbClr val="000000"/>
              </a:buClr>
              <a:buSzPts val="2400"/>
            </a:pPr>
            <a:r>
              <a:rPr lang="ru" sz="2646">
                <a:solidFill>
                  <a:srgbClr val="000000"/>
                </a:solidFill>
              </a:rPr>
              <a:t>Шаги к воспроизведению (Steps to reproduce)</a:t>
            </a:r>
            <a:endParaRPr sz="2646">
              <a:solidFill>
                <a:srgbClr val="000000"/>
              </a:solidFill>
            </a:endParaRPr>
          </a:p>
          <a:p>
            <a:pPr indent="-419976">
              <a:lnSpc>
                <a:spcPct val="150000"/>
              </a:lnSpc>
              <a:buClr>
                <a:srgbClr val="000000"/>
              </a:buClr>
              <a:buSzPts val="2400"/>
            </a:pPr>
            <a:r>
              <a:rPr lang="ru" sz="2646">
                <a:solidFill>
                  <a:srgbClr val="000000"/>
                </a:solidFill>
              </a:rPr>
              <a:t>Результат (Actual Result)</a:t>
            </a:r>
            <a:endParaRPr sz="2646">
              <a:solidFill>
                <a:srgbClr val="000000"/>
              </a:solidFill>
            </a:endParaRPr>
          </a:p>
          <a:p>
            <a:pPr indent="-419976">
              <a:lnSpc>
                <a:spcPct val="150000"/>
              </a:lnSpc>
              <a:buClr>
                <a:srgbClr val="000000"/>
              </a:buClr>
              <a:buSzPts val="2400"/>
            </a:pPr>
            <a:r>
              <a:rPr lang="ru" sz="2646">
                <a:solidFill>
                  <a:srgbClr val="000000"/>
                </a:solidFill>
              </a:rPr>
              <a:t>Ожидаемый результат (Expected Result)</a:t>
            </a:r>
            <a:endParaRPr sz="2646">
              <a:solidFill>
                <a:srgbClr val="000000"/>
              </a:solidFill>
            </a:endParaRPr>
          </a:p>
          <a:p>
            <a:pPr marL="0" indent="0">
              <a:spcBef>
                <a:spcPts val="1764"/>
              </a:spcBef>
              <a:spcAft>
                <a:spcPts val="1764"/>
              </a:spcAft>
              <a:buNone/>
            </a:pPr>
            <a:endParaRPr sz="2646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r>
              <a:rPr lang="ru" b="1"/>
              <a:t>Приоритет (Priority)</a:t>
            </a:r>
            <a:endParaRPr b="1"/>
          </a:p>
        </p:txBody>
      </p:sp>
      <p:sp>
        <p:nvSpPr>
          <p:cNvPr id="79" name="Google Shape;79;p17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 indent="-419976">
              <a:lnSpc>
                <a:spcPct val="150000"/>
              </a:lnSpc>
              <a:buClr>
                <a:srgbClr val="000000"/>
              </a:buClr>
              <a:buSzPts val="2400"/>
            </a:pPr>
            <a:r>
              <a:rPr lang="ru" sz="2646">
                <a:solidFill>
                  <a:srgbClr val="000000"/>
                </a:solidFill>
              </a:rPr>
              <a:t>Высокий (High)</a:t>
            </a:r>
            <a:endParaRPr sz="2646">
              <a:solidFill>
                <a:srgbClr val="000000"/>
              </a:solidFill>
            </a:endParaRPr>
          </a:p>
          <a:p>
            <a:pPr indent="-419976">
              <a:lnSpc>
                <a:spcPct val="150000"/>
              </a:lnSpc>
              <a:buClr>
                <a:srgbClr val="000000"/>
              </a:buClr>
              <a:buSzPts val="2400"/>
            </a:pPr>
            <a:r>
              <a:rPr lang="ru" sz="2646">
                <a:solidFill>
                  <a:srgbClr val="000000"/>
                </a:solidFill>
              </a:rPr>
              <a:t>Средний (Medium)</a:t>
            </a:r>
            <a:endParaRPr sz="2646">
              <a:solidFill>
                <a:srgbClr val="000000"/>
              </a:solidFill>
            </a:endParaRPr>
          </a:p>
          <a:p>
            <a:pPr indent="-419976">
              <a:lnSpc>
                <a:spcPct val="150000"/>
              </a:lnSpc>
              <a:buClr>
                <a:srgbClr val="000000"/>
              </a:buClr>
              <a:buSzPts val="2400"/>
            </a:pPr>
            <a:r>
              <a:rPr lang="ru" sz="2646">
                <a:solidFill>
                  <a:srgbClr val="000000"/>
                </a:solidFill>
              </a:rPr>
              <a:t>Низкий (Low)</a:t>
            </a:r>
            <a:endParaRPr sz="2646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r>
              <a:rPr lang="ru" b="1"/>
              <a:t>Серьезность (Severity)</a:t>
            </a:r>
            <a:endParaRPr b="1"/>
          </a:p>
        </p:txBody>
      </p:sp>
      <p:sp>
        <p:nvSpPr>
          <p:cNvPr id="85" name="Google Shape;85;p18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 indent="-419976">
              <a:lnSpc>
                <a:spcPct val="150000"/>
              </a:lnSpc>
              <a:buClr>
                <a:srgbClr val="000000"/>
              </a:buClr>
              <a:buSzPts val="2400"/>
            </a:pPr>
            <a:r>
              <a:rPr lang="ru" sz="2646">
                <a:solidFill>
                  <a:srgbClr val="000000"/>
                </a:solidFill>
              </a:rPr>
              <a:t>Блокирующая (Blocker)</a:t>
            </a:r>
            <a:endParaRPr sz="2646">
              <a:solidFill>
                <a:srgbClr val="000000"/>
              </a:solidFill>
            </a:endParaRPr>
          </a:p>
          <a:p>
            <a:pPr indent="-419976">
              <a:lnSpc>
                <a:spcPct val="150000"/>
              </a:lnSpc>
              <a:buClr>
                <a:srgbClr val="000000"/>
              </a:buClr>
              <a:buSzPts val="2400"/>
            </a:pPr>
            <a:r>
              <a:rPr lang="ru" sz="2646">
                <a:solidFill>
                  <a:srgbClr val="000000"/>
                </a:solidFill>
              </a:rPr>
              <a:t>Критическая (Critical)</a:t>
            </a:r>
            <a:endParaRPr sz="2646">
              <a:solidFill>
                <a:srgbClr val="000000"/>
              </a:solidFill>
            </a:endParaRPr>
          </a:p>
          <a:p>
            <a:pPr indent="-419976">
              <a:lnSpc>
                <a:spcPct val="150000"/>
              </a:lnSpc>
              <a:buClr>
                <a:srgbClr val="000000"/>
              </a:buClr>
              <a:buSzPts val="2400"/>
            </a:pPr>
            <a:r>
              <a:rPr lang="ru" sz="2646">
                <a:solidFill>
                  <a:srgbClr val="000000"/>
                </a:solidFill>
              </a:rPr>
              <a:t>Значительная (Major)</a:t>
            </a:r>
            <a:endParaRPr sz="2646">
              <a:solidFill>
                <a:srgbClr val="000000"/>
              </a:solidFill>
            </a:endParaRPr>
          </a:p>
          <a:p>
            <a:pPr indent="-419976">
              <a:lnSpc>
                <a:spcPct val="150000"/>
              </a:lnSpc>
              <a:buClr>
                <a:srgbClr val="000000"/>
              </a:buClr>
              <a:buSzPts val="2400"/>
            </a:pPr>
            <a:r>
              <a:rPr lang="ru" sz="2646">
                <a:solidFill>
                  <a:srgbClr val="000000"/>
                </a:solidFill>
              </a:rPr>
              <a:t>Незначительная (Minor)</a:t>
            </a:r>
            <a:endParaRPr sz="2646">
              <a:solidFill>
                <a:srgbClr val="000000"/>
              </a:solidFill>
            </a:endParaRPr>
          </a:p>
          <a:p>
            <a:pPr indent="-419976">
              <a:lnSpc>
                <a:spcPct val="150000"/>
              </a:lnSpc>
              <a:buClr>
                <a:srgbClr val="000000"/>
              </a:buClr>
              <a:buSzPts val="2400"/>
            </a:pPr>
            <a:r>
              <a:rPr lang="ru" sz="2646">
                <a:solidFill>
                  <a:srgbClr val="000000"/>
                </a:solidFill>
              </a:rPr>
              <a:t>Тривиальная (Trivial)</a:t>
            </a:r>
            <a:endParaRPr sz="2646">
              <a:solidFill>
                <a:srgbClr val="000000"/>
              </a:solidFill>
            </a:endParaRPr>
          </a:p>
          <a:p>
            <a:pPr indent="-419976">
              <a:lnSpc>
                <a:spcPct val="150000"/>
              </a:lnSpc>
              <a:buClr>
                <a:srgbClr val="000000"/>
              </a:buClr>
              <a:buSzPts val="2400"/>
            </a:pPr>
            <a:r>
              <a:rPr lang="ru" sz="2646">
                <a:solidFill>
                  <a:srgbClr val="000000"/>
                </a:solidFill>
              </a:rPr>
              <a:t>Предложение к улучшению (Enhancement)</a:t>
            </a:r>
            <a:endParaRPr sz="2646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r>
              <a:rPr lang="ru" b="1"/>
              <a:t>Пример описания дефекта</a:t>
            </a:r>
            <a:endParaRPr b="1"/>
          </a:p>
        </p:txBody>
      </p:sp>
      <p:sp>
        <p:nvSpPr>
          <p:cNvPr id="91" name="Google Shape;91;p19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 marL="0" indent="0">
              <a:spcAft>
                <a:spcPts val="1764"/>
              </a:spcAft>
              <a:buNone/>
            </a:pPr>
            <a:endParaRPr/>
          </a:p>
        </p:txBody>
      </p:sp>
      <p:pic>
        <p:nvPicPr>
          <p:cNvPr id="92" name="Google Shape;9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0193" y="2144761"/>
            <a:ext cx="6667213" cy="47142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r>
              <a:rPr lang="ru" b="1"/>
              <a:t>Пример описания дефекта</a:t>
            </a:r>
            <a:endParaRPr b="1"/>
          </a:p>
        </p:txBody>
      </p:sp>
      <p:sp>
        <p:nvSpPr>
          <p:cNvPr id="98" name="Google Shape;98;p20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 marL="0" indent="0">
              <a:spcAft>
                <a:spcPts val="1764"/>
              </a:spcAft>
              <a:buNone/>
            </a:pPr>
            <a:endParaRPr/>
          </a:p>
        </p:txBody>
      </p:sp>
      <p:pic>
        <p:nvPicPr>
          <p:cNvPr id="99" name="Google Shape;9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116" y="1634383"/>
            <a:ext cx="10079568" cy="46268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r>
              <a:rPr lang="ru" b="1"/>
              <a:t>Пример некорректного описания дефекта</a:t>
            </a:r>
            <a:endParaRPr b="1"/>
          </a:p>
        </p:txBody>
      </p:sp>
      <p:sp>
        <p:nvSpPr>
          <p:cNvPr id="105" name="Google Shape;105;p21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 marL="0" indent="0">
              <a:spcAft>
                <a:spcPts val="1764"/>
              </a:spcAft>
              <a:buNone/>
            </a:pPr>
            <a:endParaRPr/>
          </a:p>
        </p:txBody>
      </p:sp>
      <p:pic>
        <p:nvPicPr>
          <p:cNvPr id="106" name="Google Shape;106;p21"/>
          <p:cNvPicPr preferRelativeResize="0"/>
          <p:nvPr/>
        </p:nvPicPr>
        <p:blipFill rotWithShape="1">
          <a:blip r:embed="rId3">
            <a:alphaModFix/>
          </a:blip>
          <a:srcRect r="35819" b="44124"/>
          <a:stretch/>
        </p:blipFill>
        <p:spPr>
          <a:xfrm>
            <a:off x="306122" y="1460099"/>
            <a:ext cx="9521410" cy="38154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r>
              <a:rPr lang="ru" b="1"/>
              <a:t>Пример некорректного описания дефекта</a:t>
            </a:r>
            <a:endParaRPr b="1"/>
          </a:p>
        </p:txBody>
      </p:sp>
      <p:sp>
        <p:nvSpPr>
          <p:cNvPr id="112" name="Google Shape;112;p22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 marL="0" indent="0">
              <a:spcAft>
                <a:spcPts val="1764"/>
              </a:spcAft>
              <a:buNone/>
            </a:pPr>
            <a:endParaRPr/>
          </a:p>
        </p:txBody>
      </p:sp>
      <p:pic>
        <p:nvPicPr>
          <p:cNvPr id="113" name="Google Shape;11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6123" y="2075738"/>
            <a:ext cx="10079568" cy="3408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r>
              <a:rPr lang="ru" b="1"/>
              <a:t>Bug Tracking Systems</a:t>
            </a:r>
            <a:endParaRPr b="1"/>
          </a:p>
        </p:txBody>
      </p:sp>
      <p:sp>
        <p:nvSpPr>
          <p:cNvPr id="119" name="Google Shape;119;p23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 marL="0" indent="0">
              <a:spcAft>
                <a:spcPts val="1764"/>
              </a:spcAft>
              <a:buNone/>
            </a:pPr>
            <a:endParaRPr/>
          </a:p>
        </p:txBody>
      </p:sp>
      <p:pic>
        <p:nvPicPr>
          <p:cNvPr id="120" name="Google Shape;12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6123" y="1334013"/>
            <a:ext cx="10079568" cy="48916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r>
              <a:rPr lang="ru"/>
              <a:t>Примеры</a:t>
            </a:r>
            <a:endParaRPr/>
          </a:p>
        </p:txBody>
      </p:sp>
      <p:sp>
        <p:nvSpPr>
          <p:cNvPr id="126" name="Google Shape;126;p24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 marL="0" indent="0">
              <a:buNone/>
            </a:pPr>
            <a:r>
              <a:rPr lang="ru" u="sng">
                <a:solidFill>
                  <a:schemeClr val="hlink"/>
                </a:solidFill>
                <a:hlinkClick r:id="rId3"/>
              </a:rPr>
              <a:t>https://gitlab.com/gitlab-org/gitlab/-/issues/331479</a:t>
            </a:r>
            <a:endParaRPr/>
          </a:p>
          <a:p>
            <a:pPr marL="0" indent="0">
              <a:spcBef>
                <a:spcPts val="1764"/>
              </a:spcBef>
              <a:buNone/>
            </a:pPr>
            <a:r>
              <a:rPr lang="ru" u="sng">
                <a:solidFill>
                  <a:schemeClr val="hlink"/>
                </a:solidFill>
                <a:hlinkClick r:id="rId4"/>
              </a:rPr>
              <a:t>https://bugzilla.mozilla.org/show_bug.cgi?id=864072</a:t>
            </a:r>
            <a:endParaRPr/>
          </a:p>
          <a:p>
            <a:pPr marL="0" indent="0">
              <a:spcBef>
                <a:spcPts val="1764"/>
              </a:spcBef>
              <a:spcAft>
                <a:spcPts val="1764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5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r>
              <a:rPr lang="ru"/>
              <a:t>Задание</a:t>
            </a:r>
            <a:endParaRPr/>
          </a:p>
        </p:txBody>
      </p:sp>
      <p:sp>
        <p:nvSpPr>
          <p:cNvPr id="132" name="Google Shape;132;p25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 marL="0" indent="0">
              <a:buNone/>
            </a:pPr>
            <a:r>
              <a:rPr lang="ru" sz="2000" dirty="0"/>
              <a:t>Провести тестирование по следующей части тест-кейса:</a:t>
            </a:r>
            <a:endParaRPr sz="2000" dirty="0"/>
          </a:p>
          <a:p>
            <a:pPr marL="0" indent="0">
              <a:spcBef>
                <a:spcPts val="1764"/>
              </a:spcBef>
              <a:buNone/>
            </a:pPr>
            <a:r>
              <a:rPr lang="ru" sz="2000" b="1" dirty="0"/>
              <a:t>Тестовый стенд</a:t>
            </a:r>
            <a:endParaRPr sz="2000" b="1" dirty="0"/>
          </a:p>
          <a:p>
            <a:pPr marL="0" indent="0">
              <a:spcBef>
                <a:spcPts val="1764"/>
              </a:spcBef>
              <a:buNone/>
            </a:pPr>
            <a:r>
              <a:rPr lang="ru" sz="2000" u="sng" dirty="0">
                <a:solidFill>
                  <a:schemeClr val="hlink"/>
                </a:solidFill>
                <a:hlinkClick r:id="rId3"/>
              </a:rPr>
              <a:t>http://git-extractor.athene.tech/</a:t>
            </a:r>
            <a:endParaRPr sz="2000" dirty="0"/>
          </a:p>
          <a:p>
            <a:pPr marL="0" indent="0">
              <a:spcBef>
                <a:spcPts val="1764"/>
              </a:spcBef>
              <a:buNone/>
            </a:pPr>
            <a:r>
              <a:rPr lang="ru" sz="2000" b="1" dirty="0"/>
              <a:t>Шаги</a:t>
            </a:r>
            <a:endParaRPr sz="2000" b="1" dirty="0"/>
          </a:p>
          <a:p>
            <a:pPr>
              <a:spcBef>
                <a:spcPts val="1764"/>
              </a:spcBef>
              <a:buAutoNum type="arabicPeriod"/>
            </a:pPr>
            <a:r>
              <a:rPr lang="ru" sz="2000" dirty="0"/>
              <a:t>Перейти к списку индексированных репозиториев</a:t>
            </a:r>
            <a:endParaRPr sz="2000" dirty="0"/>
          </a:p>
          <a:p>
            <a:pPr>
              <a:buAutoNum type="arabicPeriod"/>
            </a:pPr>
            <a:r>
              <a:rPr lang="ru" sz="2000" dirty="0"/>
              <a:t>Выбрать одну из веток</a:t>
            </a:r>
            <a:endParaRPr sz="2000" dirty="0"/>
          </a:p>
          <a:p>
            <a:pPr>
              <a:buAutoNum type="arabicPeriod"/>
            </a:pPr>
            <a:r>
              <a:rPr lang="ru" sz="2000" dirty="0"/>
              <a:t>В фильтре заполнить начальную дату</a:t>
            </a:r>
            <a:endParaRPr sz="2000" dirty="0"/>
          </a:p>
          <a:p>
            <a:pPr>
              <a:buAutoNum type="arabicPeriod"/>
            </a:pPr>
            <a:r>
              <a:rPr lang="ru" sz="2000" dirty="0"/>
              <a:t>Нажать кнопку “Применить фильтр”</a:t>
            </a:r>
            <a:endParaRPr sz="2000" dirty="0"/>
          </a:p>
          <a:p>
            <a:pPr marL="0" indent="0">
              <a:spcBef>
                <a:spcPts val="1764"/>
              </a:spcBef>
              <a:buNone/>
            </a:pPr>
            <a:r>
              <a:rPr lang="ru" sz="2000" b="1" dirty="0"/>
              <a:t>Ожидаемый результат</a:t>
            </a:r>
            <a:endParaRPr sz="2000" b="1" dirty="0"/>
          </a:p>
          <a:p>
            <a:pPr marL="0" indent="0">
              <a:spcBef>
                <a:spcPts val="1764"/>
              </a:spcBef>
              <a:spcAft>
                <a:spcPts val="1764"/>
              </a:spcAft>
              <a:buNone/>
            </a:pPr>
            <a:r>
              <a:rPr lang="ru" sz="2000" dirty="0"/>
              <a:t>В таблице коммитов будут выведены элементы не старше выбранной даты</a:t>
            </a:r>
            <a:endParaRPr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Shape 1"/>
          <p:cNvSpPr txBox="1"/>
          <p:nvPr/>
        </p:nvSpPr>
        <p:spPr>
          <a:xfrm>
            <a:off x="581040" y="800280"/>
            <a:ext cx="8048160" cy="22971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4800" b="0" strike="noStrike" spc="-1">
                <a:solidFill>
                  <a:srgbClr val="004892"/>
                </a:solidFill>
                <a:latin typeface="Montserrat Bold"/>
              </a:rPr>
              <a:t>Спасибо за внимание!</a:t>
            </a:r>
            <a:endParaRPr lang="en-US" sz="4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103" name="CustomShape 2"/>
          <p:cNvSpPr/>
          <p:nvPr/>
        </p:nvSpPr>
        <p:spPr>
          <a:xfrm>
            <a:off x="0" y="6862680"/>
            <a:ext cx="10691280" cy="458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 dirty="0">
                <a:solidFill>
                  <a:srgbClr val="173277"/>
                </a:solidFill>
                <a:latin typeface="Montserrat"/>
              </a:rPr>
              <a:t>202</a:t>
            </a:r>
            <a:r>
              <a:rPr lang="ru-RU" sz="1600" b="0" strike="noStrike" spc="-1" dirty="0">
                <a:solidFill>
                  <a:srgbClr val="173277"/>
                </a:solidFill>
                <a:latin typeface="Montserrat"/>
              </a:rPr>
              <a:t>2</a:t>
            </a:r>
            <a:endParaRPr lang="en-US" sz="1600" b="0" strike="noStrike" spc="-1" dirty="0">
              <a:latin typeface="Arial"/>
            </a:endParaRPr>
          </a:p>
        </p:txBody>
      </p:sp>
      <p:pic>
        <p:nvPicPr>
          <p:cNvPr id="104" name="Рисунок 2"/>
          <p:cNvPicPr/>
          <p:nvPr/>
        </p:nvPicPr>
        <p:blipFill>
          <a:blip r:embed="rId2"/>
          <a:stretch/>
        </p:blipFill>
        <p:spPr>
          <a:xfrm>
            <a:off x="4115160" y="5178600"/>
            <a:ext cx="2232360" cy="1426680"/>
          </a:xfrm>
          <a:prstGeom prst="rect">
            <a:avLst/>
          </a:prstGeom>
          <a:ln>
            <a:noFill/>
          </a:ln>
        </p:spPr>
      </p:pic>
      <p:sp>
        <p:nvSpPr>
          <p:cNvPr id="105" name="CustomShape 3"/>
          <p:cNvSpPr/>
          <p:nvPr/>
        </p:nvSpPr>
        <p:spPr>
          <a:xfrm>
            <a:off x="581040" y="1833480"/>
            <a:ext cx="8048160" cy="2297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b="0" strike="noStrike" spc="-1">
                <a:solidFill>
                  <a:srgbClr val="004892"/>
                </a:solidFill>
                <a:latin typeface="Montserrat"/>
              </a:rPr>
              <a:t>Рады видеть Вас на наших мероприятиях!</a:t>
            </a:r>
            <a:endParaRPr lang="en-US" sz="2000" b="0" strike="noStrike" spc="-1"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953</TotalTime>
  <Words>236</Words>
  <Application>Microsoft Office PowerPoint</Application>
  <PresentationFormat>Произвольный</PresentationFormat>
  <Paragraphs>57</Paragraphs>
  <Slides>14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5" baseType="lpstr">
      <vt:lpstr>Arial</vt:lpstr>
      <vt:lpstr>Calibri</vt:lpstr>
      <vt:lpstr>DejaVu Sans</vt:lpstr>
      <vt:lpstr>Geometria  bold</vt:lpstr>
      <vt:lpstr>Geometria light</vt:lpstr>
      <vt:lpstr>Montserrat</vt:lpstr>
      <vt:lpstr>Montserrat Bold</vt:lpstr>
      <vt:lpstr>Symbol</vt:lpstr>
      <vt:lpstr>Times New Roman</vt:lpstr>
      <vt:lpstr>Wingdings</vt:lpstr>
      <vt:lpstr>Office Theme</vt:lpstr>
      <vt:lpstr>Презентация PowerPoint</vt:lpstr>
      <vt:lpstr>Bug</vt:lpstr>
      <vt:lpstr>Жизненный цикл дефекта</vt:lpstr>
      <vt:lpstr>Описание дефекта.</vt:lpstr>
      <vt:lpstr>Приоритет (Priority)</vt:lpstr>
      <vt:lpstr>Серьезность (Severity)</vt:lpstr>
      <vt:lpstr>Пример описания дефекта</vt:lpstr>
      <vt:lpstr>Пример описания дефекта</vt:lpstr>
      <vt:lpstr>Пример некорректного описания дефекта</vt:lpstr>
      <vt:lpstr>Пример некорректного описания дефекта</vt:lpstr>
      <vt:lpstr>Bug Tracking Systems</vt:lpstr>
      <vt:lpstr>Примеры</vt:lpstr>
      <vt:lpstr>Задание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Результаты приемной  кампании - 2019</dc:title>
  <dc:subject/>
  <dc:creator>afsafasfasfa afafaf</dc:creator>
  <dc:description/>
  <cp:lastModifiedBy>Anton Romanov</cp:lastModifiedBy>
  <cp:revision>176</cp:revision>
  <dcterms:created xsi:type="dcterms:W3CDTF">2019-09-16T12:04:13Z</dcterms:created>
  <dcterms:modified xsi:type="dcterms:W3CDTF">2022-10-18T11:34:23Z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Произвольный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5</vt:i4>
  </property>
</Properties>
</file>