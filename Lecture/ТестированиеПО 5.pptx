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0" r:id="rId21"/>
  </p:sldIdLst>
  <p:sldSz cx="10691813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18" y="67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259" y="-91"/>
      </p:cViewPr>
      <p:guideLst>
        <p:guide orient="horz" pos="3367"/>
        <p:guide pos="23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838A3-E109-4F1D-9FCC-EF09B935682D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2A091-47E7-4B68-B6F0-E4FEA3D8F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9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52000-7BA7-4E98-9AAA-4FCE25FD58C5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44563" y="801688"/>
            <a:ext cx="5670550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1EDE4-ECEF-4344-A377-B4F7BE165A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8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70acabfb9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70acabfb9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fd420ec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ffd420ec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0acabfb9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0acabfb9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0acabfb9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0acabfb9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13603995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13603995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3603995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3603995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0acabfb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0acabfb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0acabfb9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0acabfb9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13603995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13603995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13603995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13603995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13603995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13603995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3603995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3603995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d5f197a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d5f197ae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70acabfb9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70acabfb9e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5f197ae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5f197ae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0acabfb9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0acabfb9e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0acabfb9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70acabfb9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0acabfb9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70acabfb9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01720" y="1237320"/>
            <a:ext cx="9087840" cy="121996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34240" y="4058640"/>
            <a:ext cx="96220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464800" y="176868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3424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464800" y="4058640"/>
            <a:ext cx="469548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34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78756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041240" y="176868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34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78756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041240" y="4058640"/>
            <a:ext cx="309816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090" b="0" strike="noStrike" spc="-1">
              <a:solidFill>
                <a:srgbClr val="000000"/>
              </a:solidFill>
              <a:latin typeface="Geometria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2" y="654077"/>
            <a:ext cx="9962890" cy="841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2" y="1693854"/>
            <a:ext cx="9962890" cy="5021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03972" lvl="0" indent="-37797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07943" lvl="1" indent="-349980" algn="just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2pPr>
            <a:lvl3pPr marL="1511915" lvl="2" indent="-349980" algn="just">
              <a:spcBef>
                <a:spcPts val="1764"/>
              </a:spcBef>
              <a:spcAft>
                <a:spcPts val="0"/>
              </a:spcAft>
              <a:buSzPts val="1400"/>
              <a:buChar char="■"/>
              <a:defRPr/>
            </a:lvl3pPr>
            <a:lvl4pPr marL="2015886" lvl="3" indent="-349980" algn="just">
              <a:spcBef>
                <a:spcPts val="1764"/>
              </a:spcBef>
              <a:spcAft>
                <a:spcPts val="0"/>
              </a:spcAft>
              <a:buSzPts val="1400"/>
              <a:buChar char="●"/>
              <a:defRPr/>
            </a:lvl4pPr>
            <a:lvl5pPr marL="2519858" lvl="4" indent="-349980" algn="just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5pPr>
            <a:lvl6pPr marL="3023829" lvl="5" indent="-349980" algn="just">
              <a:spcBef>
                <a:spcPts val="1764"/>
              </a:spcBef>
              <a:spcAft>
                <a:spcPts val="0"/>
              </a:spcAft>
              <a:buSzPts val="1400"/>
              <a:buChar char="■"/>
              <a:defRPr/>
            </a:lvl6pPr>
            <a:lvl7pPr marL="3527801" lvl="6" indent="-349980" algn="just">
              <a:spcBef>
                <a:spcPts val="1764"/>
              </a:spcBef>
              <a:spcAft>
                <a:spcPts val="0"/>
              </a:spcAft>
              <a:buSzPts val="1400"/>
              <a:buChar char="●"/>
              <a:defRPr/>
            </a:lvl7pPr>
            <a:lvl8pPr marL="4031772" lvl="7" indent="-349980" algn="just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8pPr>
            <a:lvl9pPr marL="4535744" lvl="8" indent="-349980" algn="just">
              <a:spcBef>
                <a:spcPts val="1764"/>
              </a:spcBef>
              <a:spcAft>
                <a:spcPts val="1764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598" y="6853777"/>
            <a:ext cx="641579" cy="5783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ru" smtClean="0"/>
              <a:pPr algn="r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78164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01720" y="1237320"/>
            <a:ext cx="9087840" cy="26316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619" b="0" strike="noStrike" spc="-1">
                <a:solidFill>
                  <a:srgbClr val="000000"/>
                </a:solidFill>
                <a:latin typeface="Geometria  bold"/>
              </a:rPr>
              <a:t>Образец заголовка</a:t>
            </a:r>
            <a:endParaRPr lang="en-US" sz="6619" b="0" strike="noStrike" spc="-1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73512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7095A16-4C3A-49BC-BA45-ED63D8DC7979}" type="datetime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18.10.2022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41680" y="7006680"/>
            <a:ext cx="360828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551000" y="7006680"/>
            <a:ext cx="2405160" cy="4021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19D91D-1076-4D88-80F8-03FFDA14860F}" type="slidenum">
              <a:rPr lang="ru-RU" sz="1330" b="0" strike="noStrike" spc="-1">
                <a:solidFill>
                  <a:srgbClr val="8B8B8B"/>
                </a:solidFill>
                <a:latin typeface="Geometria light"/>
              </a:rPr>
              <a:t>‹#›</a:t>
            </a:fld>
            <a:endParaRPr lang="en-US" sz="133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34240" y="1768680"/>
            <a:ext cx="962208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90" b="0" strike="noStrike" spc="-1">
                <a:solidFill>
                  <a:srgbClr val="000000"/>
                </a:solidFill>
                <a:latin typeface="Geometria ligh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strike="noStrike" spc="-1">
                <a:solidFill>
                  <a:srgbClr val="000000"/>
                </a:solidFill>
                <a:latin typeface="Geometria ligh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90" b="0" strike="noStrike" spc="-1">
                <a:solidFill>
                  <a:srgbClr val="000000"/>
                </a:solidFill>
                <a:latin typeface="Geometria ligh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Geometria ligh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004892"/>
                </a:solidFill>
                <a:latin typeface="Montserrat Bold"/>
              </a:rPr>
              <a:t>Тестирование программного обеспечения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3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85" name="CustomShape 3"/>
          <p:cNvSpPr/>
          <p:nvPr/>
        </p:nvSpPr>
        <p:spPr>
          <a:xfrm>
            <a:off x="581040" y="262404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004892"/>
              </a:solidFill>
              <a:latin typeface="Montserrat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Автоматизированное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тестирование.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4892"/>
                </a:solidFill>
                <a:latin typeface="Montserrat"/>
              </a:rPr>
              <a:t>Часть 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F50D9F-501E-4D8A-A3DD-C3F410680F6D}"/>
              </a:ext>
            </a:extLst>
          </p:cNvPr>
          <p:cNvSpPr/>
          <p:nvPr/>
        </p:nvSpPr>
        <p:spPr>
          <a:xfrm>
            <a:off x="5220719" y="3595172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Автоматизированное тестирование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Arial"/>
            </a:pP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Arial"/>
            </a:pP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Тестирование программного обеспечения (Software Testing) - проверка соответствия между реальным и ожидаемым поведением программы, осуществляемая на конечном наборе тестов, выбранном определенным образом.</a:t>
            </a:r>
            <a:endParaRPr/>
          </a:p>
          <a:p>
            <a:pPr>
              <a:spcBef>
                <a:spcPts val="1764"/>
              </a:spcBef>
              <a:spcAft>
                <a:spcPts val="1764"/>
              </a:spcAft>
            </a:pPr>
            <a:r>
              <a:rPr lang="ru"/>
              <a:t>Автоматизация - это комплекс мероприятий, направленных на повышение производительности труда человека посредством замены части этого труда работой машины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Автоматизированное тестирование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Arial"/>
            </a:pP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Автоматизированное тестирование программного обеспечения (Software Automation Testing) - это процесс верификации программного обеспечения, при котором основные функции и шаги теста, такие как запуск, инициализация, выполнение, анализ и выдача результата, выполняются автоматически при помощи инструментов для автоматизированного тестирования. 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Положительные стороны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2400" dirty="0"/>
              <a:t>Увеличение скорости тестирования без ущерба для результата. 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Возможность выполнять тесты 24/7.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Уменьшение объема ручных, рутинных, постоянно повторяющихся операций.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Снижение стоимости итерации тестирования.</a:t>
            </a:r>
            <a:endParaRPr sz="2400" dirty="0"/>
          </a:p>
          <a:p>
            <a:pPr>
              <a:spcBef>
                <a:spcPts val="1764"/>
              </a:spcBef>
            </a:pPr>
            <a:r>
              <a:rPr lang="ru" sz="2400" dirty="0"/>
              <a:t>Автоматическое формирование отчетов о тестировании.</a:t>
            </a:r>
            <a:endParaRPr sz="2400" dirty="0"/>
          </a:p>
          <a:p>
            <a:pPr>
              <a:spcBef>
                <a:spcPts val="1764"/>
              </a:spcBef>
              <a:spcAft>
                <a:spcPts val="1764"/>
              </a:spcAft>
            </a:pPr>
            <a:r>
              <a:rPr lang="ru" sz="2400" dirty="0"/>
              <a:t>Набор тестов ограничивается производительностью системы, а не доступным резервом времени людей.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Недостатки</a:t>
            </a:r>
            <a:endParaRPr sz="3200" b="1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 sz="2000" dirty="0"/>
              <a:t>Автоматизация тестирования - это дорого по времени (поначалу требует больших затрат, нежели функциональное тестирование).</a:t>
            </a:r>
            <a:endParaRPr sz="2000" dirty="0"/>
          </a:p>
          <a:p>
            <a:pPr>
              <a:spcBef>
                <a:spcPts val="1764"/>
              </a:spcBef>
            </a:pPr>
            <a:r>
              <a:rPr lang="ru" sz="2000" dirty="0"/>
              <a:t>Плохо спроектированные/реализованные автотесты ведут к нестабильным результатам и ложным срабатываниям.</a:t>
            </a:r>
            <a:endParaRPr sz="2000" dirty="0"/>
          </a:p>
          <a:p>
            <a:pPr>
              <a:spcBef>
                <a:spcPts val="1764"/>
              </a:spcBef>
            </a:pPr>
            <a:r>
              <a:rPr lang="ru" sz="2000" dirty="0"/>
              <a:t>Требуются люди с высокой квалификацией в области тестирования и знанием языков программирования и технологий одновременно.</a:t>
            </a:r>
            <a:endParaRPr sz="2000" dirty="0"/>
          </a:p>
          <a:p>
            <a:pPr>
              <a:spcBef>
                <a:spcPts val="1764"/>
              </a:spcBef>
            </a:pPr>
            <a:r>
              <a:rPr lang="ru" sz="2000" dirty="0"/>
              <a:t>Автоматические тесты "не смотрят" по сторонам.</a:t>
            </a:r>
            <a:endParaRPr sz="2000" dirty="0"/>
          </a:p>
          <a:p>
            <a:pPr>
              <a:spcBef>
                <a:spcPts val="1764"/>
              </a:spcBef>
            </a:pPr>
            <a:r>
              <a:rPr lang="ru" sz="2000" dirty="0"/>
              <a:t>Требуется время на поддержку.</a:t>
            </a:r>
            <a:endParaRPr sz="2000" dirty="0"/>
          </a:p>
          <a:p>
            <a:pPr>
              <a:spcBef>
                <a:spcPts val="1764"/>
              </a:spcBef>
              <a:spcAft>
                <a:spcPts val="1764"/>
              </a:spcAft>
            </a:pPr>
            <a:r>
              <a:rPr lang="ru" sz="2000" dirty="0"/>
              <a:t>Баги в автотестах ведут к пропуску багов в тестируемом приложении.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Что нужно автоматизировать?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/>
              <a:t>• Труднодоступные места в системе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• Часто используемая функциональность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• Рутинные операции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• Проверка данных, требующих точных математических расчетов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• Проверка форм с множеством полей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Что не нужно автоматизировать?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• Постоянно изменяющуюся функциональность (если она не основная)</a:t>
            </a:r>
            <a:endParaRPr/>
          </a:p>
          <a:p>
            <a:pPr marL="0" indent="0">
              <a:spcBef>
                <a:spcPts val="1764"/>
              </a:spcBef>
              <a:buNone/>
            </a:pPr>
            <a:r>
              <a:rPr lang="ru"/>
              <a:t>• Тесты, требующие постоянного вмешательства оператора</a:t>
            </a:r>
            <a:endParaRPr/>
          </a:p>
          <a:p>
            <a:pPr marL="0" indent="0">
              <a:spcBef>
                <a:spcPts val="1764"/>
              </a:spcBef>
              <a:buNone/>
            </a:pPr>
            <a:r>
              <a:rPr lang="ru"/>
              <a:t>• Тесты проверки содержимого картинок, видео ряда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Уровни автоматизированного тестирования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99" name="Google Shape;99;p2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Модульное тестирование</a:t>
            </a:r>
            <a:endParaRPr/>
          </a:p>
          <a:p>
            <a:pPr>
              <a:spcBef>
                <a:spcPts val="1764"/>
              </a:spcBef>
            </a:pPr>
            <a:r>
              <a:rPr lang="ru"/>
              <a:t>Функциональное тестирование</a:t>
            </a:r>
            <a:endParaRPr/>
          </a:p>
          <a:p>
            <a:pPr>
              <a:spcBef>
                <a:spcPts val="1764"/>
              </a:spcBef>
              <a:spcAft>
                <a:spcPts val="1764"/>
              </a:spcAft>
            </a:pPr>
            <a:r>
              <a:rPr lang="ru"/>
              <a:t>Тестирование через пользовательский интерфейс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</a:rPr>
              <a:t>Тестирование backend</a:t>
            </a:r>
            <a:endParaRPr sz="3200" b="1" spc="-1" dirty="0">
              <a:solidFill>
                <a:srgbClr val="004892"/>
              </a:solidFill>
              <a:latin typeface="Montserrat"/>
            </a:endParaRPr>
          </a:p>
        </p:txBody>
      </p:sp>
      <p:sp>
        <p:nvSpPr>
          <p:cNvPr id="105" name="Google Shape;105;p2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 dirty="0"/>
          </a:p>
        </p:txBody>
      </p:sp>
      <p:sp>
        <p:nvSpPr>
          <p:cNvPr id="106" name="Google Shape;106;p23"/>
          <p:cNvSpPr/>
          <p:nvPr/>
        </p:nvSpPr>
        <p:spPr>
          <a:xfrm>
            <a:off x="929592" y="2010291"/>
            <a:ext cx="1369406" cy="84161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r>
              <a:rPr lang="ru" sz="1400" dirty="0"/>
              <a:t>Мобильное приложение</a:t>
            </a:r>
            <a:endParaRPr sz="1400" dirty="0"/>
          </a:p>
        </p:txBody>
      </p:sp>
      <p:sp>
        <p:nvSpPr>
          <p:cNvPr id="107" name="Google Shape;107;p23"/>
          <p:cNvSpPr/>
          <p:nvPr/>
        </p:nvSpPr>
        <p:spPr>
          <a:xfrm>
            <a:off x="929592" y="3525450"/>
            <a:ext cx="1369406" cy="84161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r>
              <a:rPr lang="ru" sz="1400"/>
              <a:t>Веб- приложение</a:t>
            </a:r>
            <a:endParaRPr sz="1400"/>
          </a:p>
        </p:txBody>
      </p:sp>
      <p:sp>
        <p:nvSpPr>
          <p:cNvPr id="108" name="Google Shape;108;p23"/>
          <p:cNvSpPr/>
          <p:nvPr/>
        </p:nvSpPr>
        <p:spPr>
          <a:xfrm>
            <a:off x="929592" y="5318944"/>
            <a:ext cx="1369406" cy="84161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r>
              <a:rPr lang="ru" sz="1400"/>
              <a:t>Стороннее клиентское приложение</a:t>
            </a:r>
            <a:endParaRPr sz="1400"/>
          </a:p>
        </p:txBody>
      </p:sp>
      <p:sp>
        <p:nvSpPr>
          <p:cNvPr id="109" name="Google Shape;109;p23"/>
          <p:cNvSpPr/>
          <p:nvPr/>
        </p:nvSpPr>
        <p:spPr>
          <a:xfrm>
            <a:off x="4303061" y="2826362"/>
            <a:ext cx="523159" cy="22397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r>
              <a:rPr lang="ru" sz="1400"/>
              <a:t>API</a:t>
            </a:r>
            <a:endParaRPr sz="1400"/>
          </a:p>
        </p:txBody>
      </p:sp>
      <p:cxnSp>
        <p:nvCxnSpPr>
          <p:cNvPr id="110" name="Google Shape;110;p23"/>
          <p:cNvCxnSpPr/>
          <p:nvPr/>
        </p:nvCxnSpPr>
        <p:spPr>
          <a:xfrm>
            <a:off x="2722094" y="2377720"/>
            <a:ext cx="1313849" cy="116900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1" name="Google Shape;111;p23"/>
          <p:cNvCxnSpPr/>
          <p:nvPr/>
        </p:nvCxnSpPr>
        <p:spPr>
          <a:xfrm rot="-5400000">
            <a:off x="2711401" y="4501164"/>
            <a:ext cx="1313849" cy="116900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2" name="Google Shape;112;p23"/>
          <p:cNvCxnSpPr/>
          <p:nvPr/>
        </p:nvCxnSpPr>
        <p:spPr>
          <a:xfrm>
            <a:off x="2510559" y="3980927"/>
            <a:ext cx="1480850" cy="221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3" name="Google Shape;113;p23"/>
          <p:cNvSpPr/>
          <p:nvPr/>
        </p:nvSpPr>
        <p:spPr>
          <a:xfrm>
            <a:off x="5483227" y="2834189"/>
            <a:ext cx="1447450" cy="22397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r>
              <a:rPr lang="ru" sz="1400"/>
              <a:t>Серверное приложение</a:t>
            </a:r>
            <a:endParaRPr sz="1400"/>
          </a:p>
        </p:txBody>
      </p:sp>
      <p:sp>
        <p:nvSpPr>
          <p:cNvPr id="114" name="Google Shape;114;p23"/>
          <p:cNvSpPr/>
          <p:nvPr/>
        </p:nvSpPr>
        <p:spPr>
          <a:xfrm>
            <a:off x="7888064" y="3044443"/>
            <a:ext cx="1313849" cy="1803635"/>
          </a:xfrm>
          <a:prstGeom prst="flowChartMagneticDisk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pPr algn="ctr"/>
            <a:r>
              <a:rPr lang="ru" sz="1400"/>
              <a:t>БД</a:t>
            </a:r>
            <a:endParaRPr sz="1400"/>
          </a:p>
        </p:txBody>
      </p:sp>
      <p:cxnSp>
        <p:nvCxnSpPr>
          <p:cNvPr id="115" name="Google Shape;115;p23"/>
          <p:cNvCxnSpPr/>
          <p:nvPr/>
        </p:nvCxnSpPr>
        <p:spPr>
          <a:xfrm>
            <a:off x="4916389" y="3935181"/>
            <a:ext cx="377653" cy="13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6" name="Google Shape;116;p23"/>
          <p:cNvCxnSpPr/>
          <p:nvPr/>
        </p:nvCxnSpPr>
        <p:spPr>
          <a:xfrm>
            <a:off x="7220544" y="3935181"/>
            <a:ext cx="377653" cy="13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</a:rPr>
              <a:t>Как автоматизировать?</a:t>
            </a:r>
            <a:endParaRPr sz="3200" b="1" spc="-1" dirty="0">
              <a:solidFill>
                <a:srgbClr val="004892"/>
              </a:solidFill>
              <a:latin typeface="Montserrat"/>
            </a:endParaRPr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r>
              <a:rPr lang="ru"/>
              <a:t>Насколько хорошо инструмент для автоматизации распознает элементы управления?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606" y="2702839"/>
            <a:ext cx="7559675" cy="371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Как автоматизировать?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Время на поддержку скриптов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843" y="2207248"/>
            <a:ext cx="5204945" cy="389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Как автоматизировать?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None/>
            </a:pPr>
            <a:r>
              <a:rPr lang="ru"/>
              <a:t>Удобство инструмента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190" y="2228880"/>
            <a:ext cx="6283029" cy="3926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Как автоматизировать?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">
                <a:solidFill>
                  <a:srgbClr val="000000"/>
                </a:solidFill>
              </a:rPr>
              <a:t>Неудобство…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764"/>
              </a:spcBef>
              <a:spcAft>
                <a:spcPts val="1764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203" y="2261289"/>
            <a:ext cx="5501164" cy="3652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Выбор инструмента автоматизации</a:t>
            </a:r>
            <a:endParaRPr sz="3200" b="1" spc="-1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50" name="Google Shape;150;p28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spcAft>
                <a:spcPts val="1764"/>
              </a:spcAft>
              <a:buNone/>
            </a:pPr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715" y="1693844"/>
            <a:ext cx="1984415" cy="157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7208" y="1693831"/>
            <a:ext cx="2141908" cy="905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2188" y="1693831"/>
            <a:ext cx="1574932" cy="1425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5598" y="3627002"/>
            <a:ext cx="1259946" cy="866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3072" y="4111386"/>
            <a:ext cx="1551309" cy="61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5228" y="5297656"/>
            <a:ext cx="2834878" cy="1063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" sz="3086" b="1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Выбор инструмента автоматизации</a:t>
            </a:r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9" tIns="100779" rIns="100779" bIns="100779" anchor="ctr" anchorCtr="0">
            <a:noAutofit/>
          </a:bodyPr>
          <a:lstStyle/>
          <a:p>
            <a:pPr marL="2519858" indent="503972">
              <a:spcBef>
                <a:spcPts val="0"/>
              </a:spcBef>
              <a:buNone/>
            </a:pPr>
            <a:r>
              <a:rPr lang="ru" sz="2646">
                <a:solidFill>
                  <a:srgbClr val="000000"/>
                </a:solidFill>
              </a:rPr>
              <a:t>Monkey tester</a:t>
            </a:r>
            <a:endParaRPr sz="2646">
              <a:solidFill>
                <a:srgbClr val="000000"/>
              </a:solidFill>
            </a:endParaRPr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714" y="1693844"/>
            <a:ext cx="2348895" cy="1721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8392" y="3781133"/>
            <a:ext cx="7267893" cy="3233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Выбор инструмента автоматизации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70" name="Google Shape;170;p30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2519858" indent="503972">
              <a:spcAft>
                <a:spcPts val="1764"/>
              </a:spcAft>
              <a:buNone/>
            </a:pPr>
            <a:r>
              <a:rPr lang="ru"/>
              <a:t>Selenium Web Driver</a:t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714" y="1693831"/>
            <a:ext cx="1574932" cy="1425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986" y="2406298"/>
            <a:ext cx="5305105" cy="3569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Инструменты для тестирования backend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ru"/>
              <a:t>Язык программирования (Python, Java...)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Тестовый фреймворк (TestNG, JUnit...)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Библиотеки для работы с http и json/xml 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Postman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Fiddler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JMeter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SoapUI</a:t>
            </a:r>
            <a:endParaRPr/>
          </a:p>
          <a:p>
            <a:pPr>
              <a:lnSpc>
                <a:spcPct val="150000"/>
              </a:lnSpc>
            </a:pPr>
            <a:r>
              <a:rPr lang="ru"/>
              <a:t>RunScope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</a:rPr>
              <a:t>Выбор инструмента автоматизации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  <a:p>
            <a:pPr>
              <a:lnSpc>
                <a:spcPct val="100000"/>
              </a:lnSpc>
              <a:buFont typeface="Arial"/>
            </a:pP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r>
              <a:rPr lang="ru"/>
              <a:t>HtmlUnit - инструмент с открытым исходным кодом для тестирования или получения информации с веб-сайтов. По сути, это браузер без графической оболочки, написанный на Java.</a:t>
            </a:r>
            <a:endParaRPr/>
          </a:p>
          <a:p>
            <a:r>
              <a:rPr lang="ru"/>
              <a:t>Junit -   библиотека для модульного тестирования программного обеспечения на языке Java.</a:t>
            </a:r>
            <a:endParaRPr/>
          </a:p>
          <a:p>
            <a:r>
              <a:rPr lang="ru"/>
              <a:t>TestNG – это фреймворк для тестирования, написанный на Java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649714" y="654077"/>
            <a:ext cx="9392384" cy="841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/>
            </a:pPr>
            <a:r>
              <a:rPr lang="ru" sz="3200" b="1" spc="-1" dirty="0">
                <a:solidFill>
                  <a:srgbClr val="004892"/>
                </a:solidFill>
                <a:latin typeface="Montserrat"/>
                <a:ea typeface="+mn-ea"/>
                <a:cs typeface="+mn-cs"/>
                <a:sym typeface="Arial"/>
              </a:rPr>
              <a:t>Ссылки</a:t>
            </a:r>
            <a:endParaRPr sz="3200" b="1" spc="-1" dirty="0">
              <a:solidFill>
                <a:srgbClr val="004892"/>
              </a:solidFill>
              <a:latin typeface="Montserrat"/>
              <a:ea typeface="+mn-ea"/>
              <a:cs typeface="+mn-cs"/>
              <a:sym typeface="Arial"/>
            </a:endParaRPr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649714" y="1693853"/>
            <a:ext cx="9392384" cy="5021264"/>
          </a:xfrm>
          <a:prstGeom prst="rect">
            <a:avLst/>
          </a:prstGeom>
        </p:spPr>
        <p:txBody>
          <a:bodyPr spcFirstLastPara="1" wrap="square" lIns="100779" tIns="100779" rIns="100779" bIns="100779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"/>
              <a:t>http://www.protesting.ru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http://autoqa.org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http://internetka.in.ua/selenium-page-object/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http://automation-remarks.com/nastraivaiem-selenium-grid-za-5-minut/</a:t>
            </a:r>
            <a:endParaRPr/>
          </a:p>
          <a:p>
            <a:pPr marL="0" indent="0">
              <a:spcBef>
                <a:spcPts val="1764"/>
              </a:spcBef>
              <a:buClr>
                <a:schemeClr val="dk1"/>
              </a:buClr>
              <a:buSzPts val="1100"/>
              <a:buNone/>
            </a:pPr>
            <a:r>
              <a:rPr lang="ru"/>
              <a:t>http://autoqa.org/api-testing/testirovanie-rest-java-ispolzovaniem-rest-assured.html</a:t>
            </a:r>
            <a:endParaRPr/>
          </a:p>
          <a:p>
            <a:pPr marL="0" indent="0">
              <a:spcBef>
                <a:spcPts val="1764"/>
              </a:spcBef>
              <a:spcAft>
                <a:spcPts val="1764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581040" y="800280"/>
            <a:ext cx="8048160" cy="22971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b="0" strike="noStrike" spc="-1" dirty="0">
                <a:solidFill>
                  <a:srgbClr val="004892"/>
                </a:solidFill>
                <a:latin typeface="Montserrat Bold"/>
              </a:rPr>
              <a:t>Спасибо за внимание!</a:t>
            </a:r>
            <a:endParaRPr lang="en-US" sz="4800" b="0" strike="noStrike" spc="-1" dirty="0">
              <a:solidFill>
                <a:srgbClr val="000000"/>
              </a:solidFill>
              <a:latin typeface="Geometria light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0" y="6862680"/>
            <a:ext cx="106912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173277"/>
                </a:solidFill>
                <a:latin typeface="Montserrat"/>
              </a:rPr>
              <a:t>202</a:t>
            </a:r>
            <a:r>
              <a:rPr lang="ru-RU" sz="1600" b="0" strike="noStrike" spc="-1" dirty="0">
                <a:solidFill>
                  <a:srgbClr val="173277"/>
                </a:solidFill>
                <a:latin typeface="Montserrat"/>
              </a:rPr>
              <a:t>2</a:t>
            </a:r>
            <a:endParaRPr lang="en-US" sz="1600" b="0" strike="noStrike" spc="-1" dirty="0">
              <a:latin typeface="Arial"/>
            </a:endParaRPr>
          </a:p>
        </p:txBody>
      </p:sp>
      <p:pic>
        <p:nvPicPr>
          <p:cNvPr id="104" name="Рисунок 2"/>
          <p:cNvPicPr/>
          <p:nvPr/>
        </p:nvPicPr>
        <p:blipFill>
          <a:blip r:embed="rId2"/>
          <a:stretch/>
        </p:blipFill>
        <p:spPr>
          <a:xfrm>
            <a:off x="4115160" y="5178600"/>
            <a:ext cx="2232360" cy="142668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581040" y="1833480"/>
            <a:ext cx="8048160" cy="22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0" strike="noStrike" spc="-1">
                <a:solidFill>
                  <a:srgbClr val="004892"/>
                </a:solidFill>
                <a:latin typeface="Montserrat"/>
              </a:rPr>
              <a:t>Рады видеть Вас на наших мероприятиях!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957</TotalTime>
  <Words>496</Words>
  <Application>Microsoft Office PowerPoint</Application>
  <PresentationFormat>Произвольный</PresentationFormat>
  <Paragraphs>84</Paragraphs>
  <Slides>20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1" baseType="lpstr">
      <vt:lpstr>Arial</vt:lpstr>
      <vt:lpstr>Calibri</vt:lpstr>
      <vt:lpstr>DejaVu Sans</vt:lpstr>
      <vt:lpstr>Geometria  bold</vt:lpstr>
      <vt:lpstr>Geometria light</vt:lpstr>
      <vt:lpstr>Montserrat</vt:lpstr>
      <vt:lpstr>Montserrat Bold</vt:lpstr>
      <vt:lpstr>Symbol</vt:lpstr>
      <vt:lpstr>Times New Roman</vt:lpstr>
      <vt:lpstr>Wingdings</vt:lpstr>
      <vt:lpstr>Office Theme</vt:lpstr>
      <vt:lpstr>Презентация PowerPoint</vt:lpstr>
      <vt:lpstr>Автоматизированное тестирование  </vt:lpstr>
      <vt:lpstr>Автоматизированное тестирование </vt:lpstr>
      <vt:lpstr>Положительные стороны</vt:lpstr>
      <vt:lpstr>Недостатки</vt:lpstr>
      <vt:lpstr>Что нужно автоматизировать?</vt:lpstr>
      <vt:lpstr>Что не нужно автоматизировать?</vt:lpstr>
      <vt:lpstr>Уровни автоматизированного тестирования</vt:lpstr>
      <vt:lpstr>Тестирование backend</vt:lpstr>
      <vt:lpstr>Как автоматизировать?</vt:lpstr>
      <vt:lpstr>Как автоматизировать?</vt:lpstr>
      <vt:lpstr>Как автоматизировать?</vt:lpstr>
      <vt:lpstr>Как автоматизировать?</vt:lpstr>
      <vt:lpstr>Выбор инструмента автоматизации</vt:lpstr>
      <vt:lpstr>Выбор инструмента автоматизации</vt:lpstr>
      <vt:lpstr>Выбор инструмента автоматизации</vt:lpstr>
      <vt:lpstr>Инструменты для тестирования backend</vt:lpstr>
      <vt:lpstr>Выбор инструмента автоматизации </vt:lpstr>
      <vt:lpstr>Ссылки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subject/>
  <dc:creator>afsafasfasfa afafaf</dc:creator>
  <dc:description/>
  <cp:lastModifiedBy>Anton Romanov</cp:lastModifiedBy>
  <cp:revision>177</cp:revision>
  <dcterms:created xsi:type="dcterms:W3CDTF">2019-09-16T12:04:13Z</dcterms:created>
  <dcterms:modified xsi:type="dcterms:W3CDTF">2022-10-18T11:39:19Z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Произвольный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