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6" r:id="rId2"/>
    <p:sldId id="257" r:id="rId3"/>
    <p:sldId id="258" r:id="rId4"/>
    <p:sldId id="259" r:id="rId5"/>
    <p:sldId id="276"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60" r:id="rId34"/>
  </p:sldIdLst>
  <p:sldSz cx="10691813" cy="7559675"/>
  <p:notesSz cx="7559675" cy="10691813"/>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2D200454-40CA-4A62-9FC3-DE9A4176ACB9}">
      <p15:notesGuideLst xmlns:p15="http://schemas.microsoft.com/office/powerpoint/2012/main">
        <p15:guide id="1" orient="horz" pos="3367">
          <p15:clr>
            <a:srgbClr val="A4A3A4"/>
          </p15:clr>
        </p15:guide>
        <p15:guide id="2" pos="238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0" autoAdjust="0"/>
    <p:restoredTop sz="94660"/>
  </p:normalViewPr>
  <p:slideViewPr>
    <p:cSldViewPr snapToGrid="0">
      <p:cViewPr varScale="1">
        <p:scale>
          <a:sx n="75" d="100"/>
          <a:sy n="75" d="100"/>
        </p:scale>
        <p:origin x="1118" y="67"/>
      </p:cViewPr>
      <p:guideLst>
        <p:guide orient="horz" pos="2381"/>
        <p:guide pos="3367"/>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259" y="-91"/>
      </p:cViewPr>
      <p:guideLst>
        <p:guide orient="horz" pos="3367"/>
        <p:guide pos="238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4281488" y="0"/>
            <a:ext cx="3276600" cy="534988"/>
          </a:xfrm>
          <a:prstGeom prst="rect">
            <a:avLst/>
          </a:prstGeom>
        </p:spPr>
        <p:txBody>
          <a:bodyPr vert="horz" lIns="91440" tIns="45720" rIns="91440" bIns="45720" rtlCol="0"/>
          <a:lstStyle>
            <a:lvl1pPr algn="r">
              <a:defRPr sz="1200"/>
            </a:lvl1pPr>
          </a:lstStyle>
          <a:p>
            <a:fld id="{E88838A3-E109-4F1D-9FCC-EF09B935682D}" type="datetimeFigureOut">
              <a:rPr lang="ru-RU" smtClean="0"/>
              <a:t>18.10.2022</a:t>
            </a:fld>
            <a:endParaRPr lang="ru-RU"/>
          </a:p>
        </p:txBody>
      </p:sp>
      <p:sp>
        <p:nvSpPr>
          <p:cNvPr id="4" name="Нижний колонтитул 3"/>
          <p:cNvSpPr>
            <a:spLocks noGrp="1"/>
          </p:cNvSpPr>
          <p:nvPr>
            <p:ph type="ftr" sz="quarter" idx="2"/>
          </p:nvPr>
        </p:nvSpPr>
        <p:spPr>
          <a:xfrm>
            <a:off x="0" y="10155238"/>
            <a:ext cx="3276600" cy="5349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4281488" y="10155238"/>
            <a:ext cx="3276600" cy="534987"/>
          </a:xfrm>
          <a:prstGeom prst="rect">
            <a:avLst/>
          </a:prstGeom>
        </p:spPr>
        <p:txBody>
          <a:bodyPr vert="horz" lIns="91440" tIns="45720" rIns="91440" bIns="45720" rtlCol="0" anchor="b"/>
          <a:lstStyle>
            <a:lvl1pPr algn="r">
              <a:defRPr sz="1200"/>
            </a:lvl1pPr>
          </a:lstStyle>
          <a:p>
            <a:fld id="{8C92A091-47E7-4B68-B6F0-E4FEA3D8FBB2}" type="slidenum">
              <a:rPr lang="ru-RU" smtClean="0"/>
              <a:t>‹#›</a:t>
            </a:fld>
            <a:endParaRPr lang="ru-RU"/>
          </a:p>
        </p:txBody>
      </p:sp>
    </p:spTree>
    <p:extLst>
      <p:ext uri="{BB962C8B-B14F-4D97-AF65-F5344CB8AC3E}">
        <p14:creationId xmlns:p14="http://schemas.microsoft.com/office/powerpoint/2010/main" val="1489697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A4052000-7BA7-4E98-9AAA-4FCE25FD58C5}" type="datetimeFigureOut">
              <a:rPr lang="ru-RU" smtClean="0"/>
              <a:t>18.10.2022</a:t>
            </a:fld>
            <a:endParaRPr lang="ru-RU"/>
          </a:p>
        </p:txBody>
      </p:sp>
      <p:sp>
        <p:nvSpPr>
          <p:cNvPr id="4" name="Образ слайда 3"/>
          <p:cNvSpPr>
            <a:spLocks noGrp="1" noRot="1" noChangeAspect="1"/>
          </p:cNvSpPr>
          <p:nvPr>
            <p:ph type="sldImg" idx="2"/>
          </p:nvPr>
        </p:nvSpPr>
        <p:spPr>
          <a:xfrm>
            <a:off x="944563" y="801688"/>
            <a:ext cx="5670550" cy="401002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755650" y="5078413"/>
            <a:ext cx="6048375" cy="4811712"/>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72E1EDE4-ECEF-4344-A377-B4F7BE165AF7}" type="slidenum">
              <a:rPr lang="ru-RU" smtClean="0"/>
              <a:t>‹#›</a:t>
            </a:fld>
            <a:endParaRPr lang="ru-RU"/>
          </a:p>
        </p:txBody>
      </p:sp>
    </p:spTree>
    <p:extLst>
      <p:ext uri="{BB962C8B-B14F-4D97-AF65-F5344CB8AC3E}">
        <p14:creationId xmlns:p14="http://schemas.microsoft.com/office/powerpoint/2010/main" val="18438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90ea4fac8_0_55: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90ea4fac8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90ea4fac8_0_79: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90ea4fac8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90ea4fac8_0_73: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90ea4fac8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90ea4fac8_0_84: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90ea4fac8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90ea4fac8_0_90: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90ea4fac8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90ea4fac8_0_96: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90ea4fac8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90ea4fac8_0_102: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90ea4fa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90ea4fac8_0_61: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90ea4fac8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90ea4fac8_0_67: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90ea4fac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90ea4fac8_0_108: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90ea4fac8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90ea4fac8_0_114: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90ea4fac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90ea4fac8_0_120: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90ea4fac8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90ea4fac8_0_133: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90ea4fac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90ea4fac8_0_139: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190ea4fac8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90ea4fac8_0_145: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90ea4fac8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90ea4fac8_0_152: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90ea4fac8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90ea4fac8_0_159: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90ea4fac8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90ea4fac8_0_165: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90ea4fac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90ea4fac8_0_173: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90ea4fac8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90ea4fac8_0_180: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90ea4fac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90ea4fac8_0_187: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90ea4fac8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90ea4fac8_0_194: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190ea4fac8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90ea4fac8_0_201: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190ea4fac8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90ea4fac8_0_209: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90ea4fac8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90ea4fac8_0_216: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90ea4fac8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90ea4fac8_0_222: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90ea4fac8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90ea4fac8_0_229: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90ea4fac8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90ea4fac8_0_236: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90ea4fac8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90ea4fac8_0_243: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190ea4fac8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90ea4fac8_0_250: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90ea4fac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90ea4fac8_0_127:notes"/>
          <p:cNvSpPr>
            <a:spLocks noGrp="1" noRot="1" noChangeAspect="1"/>
          </p:cNvSpPr>
          <p:nvPr>
            <p:ph type="sldImg" idx="2"/>
          </p:nvPr>
        </p:nvSpPr>
        <p:spPr>
          <a:xfrm>
            <a:off x="1004888" y="685800"/>
            <a:ext cx="48482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90ea4fac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6" name="PlaceHolder 2"/>
          <p:cNvSpPr>
            <a:spLocks noGrp="1"/>
          </p:cNvSpPr>
          <p:nvPr>
            <p:ph type="subTitle"/>
          </p:nvPr>
        </p:nvSpPr>
        <p:spPr>
          <a:xfrm>
            <a:off x="534240" y="1768680"/>
            <a:ext cx="9622080" cy="43840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8" name="PlaceHolder 2"/>
          <p:cNvSpPr>
            <a:spLocks noGrp="1"/>
          </p:cNvSpPr>
          <p:nvPr>
            <p:ph type="body"/>
          </p:nvPr>
        </p:nvSpPr>
        <p:spPr>
          <a:xfrm>
            <a:off x="534240" y="1768680"/>
            <a:ext cx="96220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0"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1"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01720" y="1237320"/>
            <a:ext cx="9087840" cy="12199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5"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6"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7"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9"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0"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1" name="PlaceHolder 4"/>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3"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4"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5" name="PlaceHolder 4"/>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7" name="PlaceHolder 2"/>
          <p:cNvSpPr>
            <a:spLocks noGrp="1"/>
          </p:cNvSpPr>
          <p:nvPr>
            <p:ph type="body"/>
          </p:nvPr>
        </p:nvSpPr>
        <p:spPr>
          <a:xfrm>
            <a:off x="534240" y="176868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8" name="PlaceHolder 3"/>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0"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1"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2"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3" name="PlaceHolder 5"/>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5" name="PlaceHolder 2"/>
          <p:cNvSpPr>
            <a:spLocks noGrp="1"/>
          </p:cNvSpPr>
          <p:nvPr>
            <p:ph type="body"/>
          </p:nvPr>
        </p:nvSpPr>
        <p:spPr>
          <a:xfrm>
            <a:off x="534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6" name="PlaceHolder 3"/>
          <p:cNvSpPr>
            <a:spLocks noGrp="1"/>
          </p:cNvSpPr>
          <p:nvPr>
            <p:ph type="body"/>
          </p:nvPr>
        </p:nvSpPr>
        <p:spPr>
          <a:xfrm>
            <a:off x="378756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7" name="PlaceHolder 4"/>
          <p:cNvSpPr>
            <a:spLocks noGrp="1"/>
          </p:cNvSpPr>
          <p:nvPr>
            <p:ph type="body"/>
          </p:nvPr>
        </p:nvSpPr>
        <p:spPr>
          <a:xfrm>
            <a:off x="7041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8" name="PlaceHolder 5"/>
          <p:cNvSpPr>
            <a:spLocks noGrp="1"/>
          </p:cNvSpPr>
          <p:nvPr>
            <p:ph type="body"/>
          </p:nvPr>
        </p:nvSpPr>
        <p:spPr>
          <a:xfrm>
            <a:off x="534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9" name="PlaceHolder 6"/>
          <p:cNvSpPr>
            <a:spLocks noGrp="1"/>
          </p:cNvSpPr>
          <p:nvPr>
            <p:ph type="body"/>
          </p:nvPr>
        </p:nvSpPr>
        <p:spPr>
          <a:xfrm>
            <a:off x="378756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40" name="PlaceHolder 7"/>
          <p:cNvSpPr>
            <a:spLocks noGrp="1"/>
          </p:cNvSpPr>
          <p:nvPr>
            <p:ph type="body"/>
          </p:nvPr>
        </p:nvSpPr>
        <p:spPr>
          <a:xfrm>
            <a:off x="7041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64462" y="654077"/>
            <a:ext cx="9962890" cy="841617"/>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64462" y="1693854"/>
            <a:ext cx="9962890" cy="5021264"/>
          </a:xfrm>
          <a:prstGeom prst="rect">
            <a:avLst/>
          </a:prstGeom>
        </p:spPr>
        <p:txBody>
          <a:bodyPr spcFirstLastPara="1" wrap="square" lIns="91425" tIns="91425" rIns="91425" bIns="91425" anchor="t" anchorCtr="0">
            <a:noAutofit/>
          </a:bodyPr>
          <a:lstStyle>
            <a:lvl1pPr marL="503972" lvl="0" indent="-377979" algn="just">
              <a:spcBef>
                <a:spcPts val="0"/>
              </a:spcBef>
              <a:spcAft>
                <a:spcPts val="0"/>
              </a:spcAft>
              <a:buSzPts val="1800"/>
              <a:buChar char="●"/>
              <a:defRPr/>
            </a:lvl1pPr>
            <a:lvl2pPr marL="1007943" lvl="1" indent="-349980" algn="just">
              <a:spcBef>
                <a:spcPts val="1764"/>
              </a:spcBef>
              <a:spcAft>
                <a:spcPts val="0"/>
              </a:spcAft>
              <a:buSzPts val="1400"/>
              <a:buChar char="○"/>
              <a:defRPr/>
            </a:lvl2pPr>
            <a:lvl3pPr marL="1511915" lvl="2" indent="-349980" algn="just">
              <a:spcBef>
                <a:spcPts val="1764"/>
              </a:spcBef>
              <a:spcAft>
                <a:spcPts val="0"/>
              </a:spcAft>
              <a:buSzPts val="1400"/>
              <a:buChar char="■"/>
              <a:defRPr/>
            </a:lvl3pPr>
            <a:lvl4pPr marL="2015886" lvl="3" indent="-349980" algn="just">
              <a:spcBef>
                <a:spcPts val="1764"/>
              </a:spcBef>
              <a:spcAft>
                <a:spcPts val="0"/>
              </a:spcAft>
              <a:buSzPts val="1400"/>
              <a:buChar char="●"/>
              <a:defRPr/>
            </a:lvl4pPr>
            <a:lvl5pPr marL="2519858" lvl="4" indent="-349980" algn="just">
              <a:spcBef>
                <a:spcPts val="1764"/>
              </a:spcBef>
              <a:spcAft>
                <a:spcPts val="0"/>
              </a:spcAft>
              <a:buSzPts val="1400"/>
              <a:buChar char="○"/>
              <a:defRPr/>
            </a:lvl5pPr>
            <a:lvl6pPr marL="3023829" lvl="5" indent="-349980" algn="just">
              <a:spcBef>
                <a:spcPts val="1764"/>
              </a:spcBef>
              <a:spcAft>
                <a:spcPts val="0"/>
              </a:spcAft>
              <a:buSzPts val="1400"/>
              <a:buChar char="■"/>
              <a:defRPr/>
            </a:lvl6pPr>
            <a:lvl7pPr marL="3527801" lvl="6" indent="-349980" algn="just">
              <a:spcBef>
                <a:spcPts val="1764"/>
              </a:spcBef>
              <a:spcAft>
                <a:spcPts val="0"/>
              </a:spcAft>
              <a:buSzPts val="1400"/>
              <a:buChar char="●"/>
              <a:defRPr/>
            </a:lvl7pPr>
            <a:lvl8pPr marL="4031772" lvl="7" indent="-349980" algn="just">
              <a:spcBef>
                <a:spcPts val="1764"/>
              </a:spcBef>
              <a:spcAft>
                <a:spcPts val="0"/>
              </a:spcAft>
              <a:buSzPts val="1400"/>
              <a:buChar char="○"/>
              <a:defRPr/>
            </a:lvl8pPr>
            <a:lvl9pPr marL="4535744" lvl="8" indent="-349980" algn="just">
              <a:spcBef>
                <a:spcPts val="1764"/>
              </a:spcBef>
              <a:spcAft>
                <a:spcPts val="1764"/>
              </a:spcAft>
              <a:buSzPts val="1400"/>
              <a:buChar char="■"/>
              <a:defRPr/>
            </a:lvl9pPr>
          </a:lstStyle>
          <a:p>
            <a:endParaRPr/>
          </a:p>
        </p:txBody>
      </p:sp>
      <p:sp>
        <p:nvSpPr>
          <p:cNvPr id="19" name="Google Shape;19;p4"/>
          <p:cNvSpPr txBox="1">
            <a:spLocks noGrp="1"/>
          </p:cNvSpPr>
          <p:nvPr>
            <p:ph type="sldNum" idx="12"/>
          </p:nvPr>
        </p:nvSpPr>
        <p:spPr>
          <a:xfrm>
            <a:off x="9906598" y="6853777"/>
            <a:ext cx="641579" cy="57838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ru" smtClean="0"/>
              <a:pPr algn="r"/>
              <a:t>‹#›</a:t>
            </a:fld>
            <a:endParaRPr lang="ru"/>
          </a:p>
        </p:txBody>
      </p:sp>
    </p:spTree>
    <p:extLst>
      <p:ext uri="{BB962C8B-B14F-4D97-AF65-F5344CB8AC3E}">
        <p14:creationId xmlns:p14="http://schemas.microsoft.com/office/powerpoint/2010/main" val="657859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64462" y="3161218"/>
            <a:ext cx="9962890" cy="1237128"/>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Font typeface="Arial"/>
              <a:buNone/>
              <a:defRPr sz="3968">
                <a:latin typeface="Arial"/>
                <a:ea typeface="Arial"/>
                <a:cs typeface="Arial"/>
                <a:sym typeface="Arial"/>
              </a:defRPr>
            </a:lvl1pPr>
            <a:lvl2pPr lvl="1" algn="ctr">
              <a:spcBef>
                <a:spcPts val="0"/>
              </a:spcBef>
              <a:spcAft>
                <a:spcPts val="0"/>
              </a:spcAft>
              <a:buSzPts val="3600"/>
              <a:buFont typeface="Arial"/>
              <a:buNone/>
              <a:defRPr sz="3968">
                <a:latin typeface="Arial"/>
                <a:ea typeface="Arial"/>
                <a:cs typeface="Arial"/>
                <a:sym typeface="Arial"/>
              </a:defRPr>
            </a:lvl2pPr>
            <a:lvl3pPr lvl="2" algn="ctr">
              <a:spcBef>
                <a:spcPts val="0"/>
              </a:spcBef>
              <a:spcAft>
                <a:spcPts val="0"/>
              </a:spcAft>
              <a:buSzPts val="3600"/>
              <a:buFont typeface="Arial"/>
              <a:buNone/>
              <a:defRPr sz="3968">
                <a:latin typeface="Arial"/>
                <a:ea typeface="Arial"/>
                <a:cs typeface="Arial"/>
                <a:sym typeface="Arial"/>
              </a:defRPr>
            </a:lvl3pPr>
            <a:lvl4pPr lvl="3" algn="ctr">
              <a:spcBef>
                <a:spcPts val="0"/>
              </a:spcBef>
              <a:spcAft>
                <a:spcPts val="0"/>
              </a:spcAft>
              <a:buSzPts val="3600"/>
              <a:buFont typeface="Arial"/>
              <a:buNone/>
              <a:defRPr sz="3968">
                <a:latin typeface="Arial"/>
                <a:ea typeface="Arial"/>
                <a:cs typeface="Arial"/>
                <a:sym typeface="Arial"/>
              </a:defRPr>
            </a:lvl4pPr>
            <a:lvl5pPr lvl="4" algn="ctr">
              <a:spcBef>
                <a:spcPts val="0"/>
              </a:spcBef>
              <a:spcAft>
                <a:spcPts val="0"/>
              </a:spcAft>
              <a:buSzPts val="3600"/>
              <a:buFont typeface="Arial"/>
              <a:buNone/>
              <a:defRPr sz="3968">
                <a:latin typeface="Arial"/>
                <a:ea typeface="Arial"/>
                <a:cs typeface="Arial"/>
                <a:sym typeface="Arial"/>
              </a:defRPr>
            </a:lvl5pPr>
            <a:lvl6pPr lvl="5" algn="ctr">
              <a:spcBef>
                <a:spcPts val="0"/>
              </a:spcBef>
              <a:spcAft>
                <a:spcPts val="0"/>
              </a:spcAft>
              <a:buSzPts val="3600"/>
              <a:buFont typeface="Arial"/>
              <a:buNone/>
              <a:defRPr sz="3968">
                <a:latin typeface="Arial"/>
                <a:ea typeface="Arial"/>
                <a:cs typeface="Arial"/>
                <a:sym typeface="Arial"/>
              </a:defRPr>
            </a:lvl6pPr>
            <a:lvl7pPr lvl="6" algn="ctr">
              <a:spcBef>
                <a:spcPts val="0"/>
              </a:spcBef>
              <a:spcAft>
                <a:spcPts val="0"/>
              </a:spcAft>
              <a:buSzPts val="3600"/>
              <a:buFont typeface="Arial"/>
              <a:buNone/>
              <a:defRPr sz="3968">
                <a:latin typeface="Arial"/>
                <a:ea typeface="Arial"/>
                <a:cs typeface="Arial"/>
                <a:sym typeface="Arial"/>
              </a:defRPr>
            </a:lvl7pPr>
            <a:lvl8pPr lvl="7" algn="ctr">
              <a:spcBef>
                <a:spcPts val="0"/>
              </a:spcBef>
              <a:spcAft>
                <a:spcPts val="0"/>
              </a:spcAft>
              <a:buSzPts val="3600"/>
              <a:buFont typeface="Arial"/>
              <a:buNone/>
              <a:defRPr sz="3968">
                <a:latin typeface="Arial"/>
                <a:ea typeface="Arial"/>
                <a:cs typeface="Arial"/>
                <a:sym typeface="Arial"/>
              </a:defRPr>
            </a:lvl8pPr>
            <a:lvl9pPr lvl="8" algn="ctr">
              <a:spcBef>
                <a:spcPts val="0"/>
              </a:spcBef>
              <a:spcAft>
                <a:spcPts val="0"/>
              </a:spcAft>
              <a:buSzPts val="3600"/>
              <a:buFont typeface="Arial"/>
              <a:buNone/>
              <a:defRPr sz="3968">
                <a:latin typeface="Arial"/>
                <a:ea typeface="Arial"/>
                <a:cs typeface="Arial"/>
                <a:sym typeface="Arial"/>
              </a:defRPr>
            </a:lvl9pPr>
          </a:lstStyle>
          <a:p>
            <a:endParaRPr/>
          </a:p>
        </p:txBody>
      </p:sp>
      <p:sp>
        <p:nvSpPr>
          <p:cNvPr id="15" name="Google Shape;15;p3"/>
          <p:cNvSpPr txBox="1">
            <a:spLocks noGrp="1"/>
          </p:cNvSpPr>
          <p:nvPr>
            <p:ph type="sldNum" idx="12"/>
          </p:nvPr>
        </p:nvSpPr>
        <p:spPr>
          <a:xfrm>
            <a:off x="9906598" y="6853777"/>
            <a:ext cx="641579" cy="57838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ru" smtClean="0"/>
              <a:pPr algn="r"/>
              <a:t>‹#›</a:t>
            </a:fld>
            <a:endParaRPr lang="ru"/>
          </a:p>
        </p:txBody>
      </p:sp>
    </p:spTree>
    <p:extLst>
      <p:ext uri="{BB962C8B-B14F-4D97-AF65-F5344CB8AC3E}">
        <p14:creationId xmlns:p14="http://schemas.microsoft.com/office/powerpoint/2010/main" val="67952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6"/>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anchor="b">
            <a:noAutofit/>
          </a:bodyPr>
          <a:lstStyle/>
          <a:p>
            <a:pPr algn="ctr">
              <a:lnSpc>
                <a:spcPct val="90000"/>
              </a:lnSpc>
            </a:pPr>
            <a:r>
              <a:rPr lang="ru-RU" sz="6619" b="0" strike="noStrike" spc="-1">
                <a:solidFill>
                  <a:srgbClr val="000000"/>
                </a:solidFill>
                <a:latin typeface="Geometria  bold"/>
              </a:rPr>
              <a:t>Образец заголовка</a:t>
            </a:r>
            <a:endParaRPr lang="en-US" sz="6619" b="0" strike="noStrike" spc="-1">
              <a:solidFill>
                <a:srgbClr val="000000"/>
              </a:solidFill>
              <a:latin typeface="Geometria light"/>
            </a:endParaRPr>
          </a:p>
        </p:txBody>
      </p:sp>
      <p:sp>
        <p:nvSpPr>
          <p:cNvPr id="6" name="PlaceHolder 2"/>
          <p:cNvSpPr>
            <a:spLocks noGrp="1"/>
          </p:cNvSpPr>
          <p:nvPr>
            <p:ph type="dt"/>
          </p:nvPr>
        </p:nvSpPr>
        <p:spPr>
          <a:xfrm>
            <a:off x="735120" y="7006680"/>
            <a:ext cx="2405160" cy="402120"/>
          </a:xfrm>
          <a:prstGeom prst="rect">
            <a:avLst/>
          </a:prstGeom>
        </p:spPr>
        <p:txBody>
          <a:bodyPr anchor="ctr">
            <a:noAutofit/>
          </a:bodyPr>
          <a:lstStyle/>
          <a:p>
            <a:pPr>
              <a:lnSpc>
                <a:spcPct val="100000"/>
              </a:lnSpc>
            </a:pPr>
            <a:fld id="{87095A16-4C3A-49BC-BA45-ED63D8DC7979}" type="datetime">
              <a:rPr lang="ru-RU" sz="1330" b="0" strike="noStrike" spc="-1">
                <a:solidFill>
                  <a:srgbClr val="8B8B8B"/>
                </a:solidFill>
                <a:latin typeface="Geometria light"/>
              </a:rPr>
              <a:t>18.10.2022</a:t>
            </a:fld>
            <a:endParaRPr lang="en-US" sz="1330" b="0" strike="noStrike" spc="-1">
              <a:latin typeface="Times New Roman"/>
            </a:endParaRPr>
          </a:p>
        </p:txBody>
      </p:sp>
      <p:sp>
        <p:nvSpPr>
          <p:cNvPr id="2" name="PlaceHolder 3"/>
          <p:cNvSpPr>
            <a:spLocks noGrp="1"/>
          </p:cNvSpPr>
          <p:nvPr>
            <p:ph type="ftr"/>
          </p:nvPr>
        </p:nvSpPr>
        <p:spPr>
          <a:xfrm>
            <a:off x="3541680" y="7006680"/>
            <a:ext cx="3608280" cy="40212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7551000" y="7006680"/>
            <a:ext cx="2405160" cy="402120"/>
          </a:xfrm>
          <a:prstGeom prst="rect">
            <a:avLst/>
          </a:prstGeom>
        </p:spPr>
        <p:txBody>
          <a:bodyPr anchor="ctr">
            <a:noAutofit/>
          </a:bodyPr>
          <a:lstStyle/>
          <a:p>
            <a:pPr algn="r">
              <a:lnSpc>
                <a:spcPct val="100000"/>
              </a:lnSpc>
            </a:pPr>
            <a:fld id="{CC19D91D-1076-4D88-80F8-03FFDA14860F}" type="slidenum">
              <a:rPr lang="ru-RU" sz="1330" b="0" strike="noStrike" spc="-1">
                <a:solidFill>
                  <a:srgbClr val="8B8B8B"/>
                </a:solidFill>
                <a:latin typeface="Geometria light"/>
              </a:rPr>
              <a:t>‹#›</a:t>
            </a:fld>
            <a:endParaRPr lang="en-US" sz="1330" b="0" strike="noStrike" spc="-1">
              <a:latin typeface="Times New Roman"/>
            </a:endParaRPr>
          </a:p>
        </p:txBody>
      </p:sp>
      <p:sp>
        <p:nvSpPr>
          <p:cNvPr id="4" name="PlaceHolder 5"/>
          <p:cNvSpPr>
            <a:spLocks noGrp="1"/>
          </p:cNvSpPr>
          <p:nvPr>
            <p:ph type="body"/>
          </p:nvPr>
        </p:nvSpPr>
        <p:spPr>
          <a:xfrm>
            <a:off x="534240" y="1768680"/>
            <a:ext cx="9622080" cy="43840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090" b="0" strike="noStrike" spc="-1">
                <a:solidFill>
                  <a:srgbClr val="000000"/>
                </a:solidFill>
                <a:latin typeface="Geometria light"/>
              </a:rPr>
              <a:t>Click to edit the outline text format</a:t>
            </a:r>
          </a:p>
          <a:p>
            <a:pPr marL="864000" lvl="1" indent="-324000">
              <a:spcBef>
                <a:spcPts val="1134"/>
              </a:spcBef>
              <a:buClr>
                <a:srgbClr val="000000"/>
              </a:buClr>
              <a:buSzPct val="75000"/>
              <a:buFont typeface="Symbol" charset="2"/>
              <a:buChar char=""/>
            </a:pPr>
            <a:r>
              <a:rPr lang="en-US" sz="2210" b="0" strike="noStrike" spc="-1">
                <a:solidFill>
                  <a:srgbClr val="000000"/>
                </a:solidFill>
                <a:latin typeface="Geometria light"/>
              </a:rPr>
              <a:t>Second Outline Level</a:t>
            </a:r>
          </a:p>
          <a:p>
            <a:pPr marL="1296000" lvl="2" indent="-288000">
              <a:spcBef>
                <a:spcPts val="850"/>
              </a:spcBef>
              <a:buClr>
                <a:srgbClr val="000000"/>
              </a:buClr>
              <a:buSzPct val="45000"/>
              <a:buFont typeface="Wingdings" charset="2"/>
              <a:buChar char=""/>
            </a:pPr>
            <a:r>
              <a:rPr lang="en-US" sz="1990" b="0" strike="noStrike" spc="-1">
                <a:solidFill>
                  <a:srgbClr val="000000"/>
                </a:solidFill>
                <a:latin typeface="Geometria light"/>
              </a:rPr>
              <a:t>Third Outline Level</a:t>
            </a:r>
          </a:p>
          <a:p>
            <a:pPr marL="1728000" lvl="3" indent="-216000">
              <a:spcBef>
                <a:spcPts val="567"/>
              </a:spcBef>
              <a:buClr>
                <a:srgbClr val="000000"/>
              </a:buClr>
              <a:buSzPct val="75000"/>
              <a:buFont typeface="Symbol" charset="2"/>
              <a:buChar char=""/>
            </a:pPr>
            <a:r>
              <a:rPr lang="en-US" sz="1990" b="0" strike="noStrike" spc="-1">
                <a:solidFill>
                  <a:srgbClr val="000000"/>
                </a:solidFill>
                <a:latin typeface="Geometria light"/>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Geometria light"/>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Geometria light"/>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Geometria light"/>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581040" y="800280"/>
            <a:ext cx="8048160" cy="2297160"/>
          </a:xfrm>
          <a:prstGeom prst="rect">
            <a:avLst/>
          </a:prstGeom>
          <a:noFill/>
          <a:ln>
            <a:noFill/>
          </a:ln>
        </p:spPr>
        <p:txBody>
          <a:bodyPr>
            <a:noAutofit/>
          </a:bodyPr>
          <a:lstStyle/>
          <a:p>
            <a:pPr>
              <a:lnSpc>
                <a:spcPct val="100000"/>
              </a:lnSpc>
            </a:pPr>
            <a:r>
              <a:rPr lang="ru-RU" sz="4800" b="0" strike="noStrike" spc="-1" dirty="0">
                <a:solidFill>
                  <a:srgbClr val="004892"/>
                </a:solidFill>
                <a:latin typeface="Montserrat Bold"/>
              </a:rPr>
              <a:t>Тестирование программного обеспечения</a:t>
            </a:r>
            <a:endParaRPr lang="en-US" sz="4800" b="0" strike="noStrike" spc="-1" dirty="0">
              <a:solidFill>
                <a:srgbClr val="000000"/>
              </a:solidFill>
              <a:latin typeface="Geometria light"/>
            </a:endParaRPr>
          </a:p>
        </p:txBody>
      </p:sp>
      <p:sp>
        <p:nvSpPr>
          <p:cNvPr id="8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a:solidFill>
                  <a:srgbClr val="173277"/>
                </a:solidFill>
                <a:latin typeface="Montserrat"/>
              </a:rPr>
              <a:t>202</a:t>
            </a:r>
            <a:r>
              <a:rPr lang="ru-RU" sz="1600" b="0" strike="noStrike" spc="-1" dirty="0">
                <a:solidFill>
                  <a:srgbClr val="173277"/>
                </a:solidFill>
                <a:latin typeface="Montserrat"/>
              </a:rPr>
              <a:t>2</a:t>
            </a:r>
            <a:endParaRPr lang="en-US" sz="1600" b="0" strike="noStrike" spc="-1" dirty="0">
              <a:latin typeface="Arial"/>
            </a:endParaRPr>
          </a:p>
        </p:txBody>
      </p:sp>
      <p:pic>
        <p:nvPicPr>
          <p:cNvPr id="84" name="Рисунок 2"/>
          <p:cNvPicPr/>
          <p:nvPr/>
        </p:nvPicPr>
        <p:blipFill>
          <a:blip r:embed="rId3"/>
          <a:stretch/>
        </p:blipFill>
        <p:spPr>
          <a:xfrm>
            <a:off x="4115160" y="5178600"/>
            <a:ext cx="2232360" cy="1426680"/>
          </a:xfrm>
          <a:prstGeom prst="rect">
            <a:avLst/>
          </a:prstGeom>
          <a:ln>
            <a:noFill/>
          </a:ln>
        </p:spPr>
      </p:pic>
      <p:sp>
        <p:nvSpPr>
          <p:cNvPr id="85" name="CustomShape 3"/>
          <p:cNvSpPr/>
          <p:nvPr/>
        </p:nvSpPr>
        <p:spPr>
          <a:xfrm>
            <a:off x="581040" y="2624040"/>
            <a:ext cx="8048160" cy="229716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a:rPr>
              <a:t>Нагрузочное тестирование</a:t>
            </a:r>
          </a:p>
        </p:txBody>
      </p:sp>
      <p:sp>
        <p:nvSpPr>
          <p:cNvPr id="2" name="Прямоугольник 1"/>
          <p:cNvSpPr/>
          <p:nvPr/>
        </p:nvSpPr>
        <p:spPr>
          <a:xfrm>
            <a:off x="5220719" y="3595172"/>
            <a:ext cx="248786" cy="369332"/>
          </a:xfrm>
          <a:prstGeom prst="rect">
            <a:avLst/>
          </a:prstGeom>
        </p:spPr>
        <p:txBody>
          <a:bodyPr wrap="none">
            <a:spAutoFit/>
          </a:bodyPr>
          <a:lstStyle/>
          <a:p>
            <a:r>
              <a:rPr lang="ru-RU" dirty="0"/>
              <a:t> </a:t>
            </a:r>
          </a:p>
        </p:txBody>
      </p:sp>
      <p:sp>
        <p:nvSpPr>
          <p:cNvPr id="4" name="Прямоугольник 3">
            <a:extLst>
              <a:ext uri="{FF2B5EF4-FFF2-40B4-BE49-F238E27FC236}">
                <a16:creationId xmlns:a16="http://schemas.microsoft.com/office/drawing/2014/main" id="{ADF50D9F-501E-4D8A-A3DD-C3F410680F6D}"/>
              </a:ext>
            </a:extLst>
          </p:cNvPr>
          <p:cNvSpPr/>
          <p:nvPr/>
        </p:nvSpPr>
        <p:spPr>
          <a:xfrm>
            <a:off x="5220719" y="3595172"/>
            <a:ext cx="248786" cy="369332"/>
          </a:xfrm>
          <a:prstGeom prst="rect">
            <a:avLst/>
          </a:prstGeom>
        </p:spPr>
        <p:txBody>
          <a:bodyPr wrap="none">
            <a:spAutoFit/>
          </a:bodyPr>
          <a:lstStyle/>
          <a:p>
            <a:r>
              <a:rPr lang="ru-RU"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Определение</a:t>
            </a:r>
            <a:endParaRPr sz="3200" b="1" spc="-1">
              <a:solidFill>
                <a:srgbClr val="004892"/>
              </a:solidFill>
              <a:latin typeface="Montserrat"/>
              <a:ea typeface="+mn-ea"/>
              <a:cs typeface="+mn-cs"/>
            </a:endParaRPr>
          </a:p>
        </p:txBody>
      </p:sp>
      <p:sp>
        <p:nvSpPr>
          <p:cNvPr id="61" name="Google Shape;61;p14"/>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r>
              <a:rPr lang="ru" b="1"/>
              <a:t>Нагрузочное тестирование</a:t>
            </a:r>
            <a:r>
              <a:rPr lang="ru"/>
              <a:t> (Load Testing) или тестирование производительности (Performance Testing) - это автоматизированное тестирование, имитирующее работу определенного количества бизнес пользователей на каком-либо общем (разделяемом ими) ресурсе.</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649714" y="3161218"/>
            <a:ext cx="9392384" cy="1237128"/>
          </a:xfrm>
          <a:prstGeom prst="rect">
            <a:avLst/>
          </a:prstGeom>
        </p:spPr>
        <p:txBody>
          <a:bodyPr spcFirstLastPara="1" wrap="square" lIns="100779" tIns="100779" rIns="100779" bIns="100779" anchor="ctr" anchorCtr="0">
            <a:noAutofit/>
          </a:bodyPr>
          <a:lstStyle/>
          <a:p>
            <a:r>
              <a:rPr lang="ru"/>
              <a:t>Виды нагрузочного тестирования</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Тестирование производительности</a:t>
            </a:r>
            <a:endParaRPr sz="3200" b="1" spc="-1" dirty="0">
              <a:solidFill>
                <a:srgbClr val="004892"/>
              </a:solidFill>
              <a:latin typeface="Montserrat"/>
              <a:ea typeface="+mn-ea"/>
              <a:cs typeface="+mn-cs"/>
            </a:endParaRPr>
          </a:p>
        </p:txBody>
      </p:sp>
      <p:sp>
        <p:nvSpPr>
          <p:cNvPr id="72" name="Google Shape;72;p16"/>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r>
              <a:rPr lang="ru"/>
              <a:t>измерение времени выполнения выбранных операций при определенных интенсивностях выполнения этих операций.</a:t>
            </a:r>
            <a:endParaRPr/>
          </a:p>
          <a:p>
            <a:r>
              <a:rPr lang="ru"/>
              <a:t>определение количества пользователей, одновременно работающих с приложением.</a:t>
            </a:r>
            <a:endParaRPr/>
          </a:p>
          <a:p>
            <a:r>
              <a:rPr lang="ru"/>
              <a:t>определение границ приемлемой производительности при увеличении нагрузки (при увеличении интенсивности выполнения этих операций)</a:t>
            </a:r>
            <a:endParaRPr/>
          </a:p>
          <a:p>
            <a:r>
              <a:rPr lang="ru"/>
              <a:t>исследование производительности на высоких, предельных, стрессовых нагрузках.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Стрессовое тестирование</a:t>
            </a:r>
            <a:endParaRPr sz="3200" b="1" spc="-1" dirty="0">
              <a:solidFill>
                <a:srgbClr val="004892"/>
              </a:solidFill>
              <a:latin typeface="Montserrat"/>
              <a:ea typeface="+mn-ea"/>
              <a:cs typeface="+mn-cs"/>
            </a:endParaRPr>
          </a:p>
        </p:txBody>
      </p:sp>
      <p:sp>
        <p:nvSpPr>
          <p:cNvPr id="78" name="Google Shape;78;p17"/>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buNone/>
            </a:pPr>
            <a:r>
              <a:rPr lang="ru" sz="2000" dirty="0"/>
              <a:t>Стрессовое тестирование позволяет проверить насколько приложение и система в целом работоспособны в условиях стресса и также оценить способность системы к регенерации, т.е. к возвращению к нормальному состоянию после прекращения воздействия стресса. </a:t>
            </a:r>
            <a:endParaRPr sz="2000" dirty="0"/>
          </a:p>
          <a:p>
            <a:pPr marL="0" indent="0">
              <a:spcBef>
                <a:spcPts val="1764"/>
              </a:spcBef>
              <a:spcAft>
                <a:spcPts val="1764"/>
              </a:spcAft>
              <a:buNone/>
            </a:pPr>
            <a:r>
              <a:rPr lang="ru" sz="2000" dirty="0"/>
              <a:t>Стрессом в данном контексте может быть повышение интенсивности выполнения операций до очень высоких значений или аварийное изменение конфигурации сервера. Также одной из задач при стрессовом тестировании может быть оценка деградации производительности, таким образом цели стрессового тестирования могут пересекаться с целями тестирования производительности.</a:t>
            </a:r>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Объемное тестирование</a:t>
            </a:r>
            <a:endParaRPr sz="3200" b="1" spc="-1" dirty="0">
              <a:solidFill>
                <a:srgbClr val="004892"/>
              </a:solidFill>
              <a:latin typeface="Montserrat"/>
              <a:ea typeface="+mn-ea"/>
              <a:cs typeface="+mn-cs"/>
            </a:endParaRPr>
          </a:p>
        </p:txBody>
      </p:sp>
      <p:sp>
        <p:nvSpPr>
          <p:cNvPr id="84" name="Google Shape;84;p18"/>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buClr>
                <a:schemeClr val="dk1"/>
              </a:buClr>
              <a:buSzPts val="1100"/>
              <a:buNone/>
            </a:pPr>
            <a:r>
              <a:rPr lang="ru"/>
              <a:t>Задачей объемного тестирования является получение оценки производительности при увеличении объемов данных в базе данных приложения.</a:t>
            </a:r>
            <a:endParaRPr/>
          </a:p>
          <a:p>
            <a:pPr>
              <a:spcBef>
                <a:spcPts val="1764"/>
              </a:spcBef>
            </a:pPr>
            <a:r>
              <a:rPr lang="ru"/>
              <a:t>измерение времени выполнения выбранных операций при определенных интенсивности выполнения этих операций.</a:t>
            </a:r>
            <a:endParaRPr/>
          </a:p>
          <a:p>
            <a:r>
              <a:rPr lang="ru"/>
              <a:t>может производиться определение количества пользователей, одновременно работающих с приложением.</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Тестирование стабильности</a:t>
            </a:r>
            <a:endParaRPr sz="3200" b="1" spc="-1" dirty="0">
              <a:solidFill>
                <a:srgbClr val="004892"/>
              </a:solidFill>
              <a:latin typeface="Montserrat"/>
              <a:ea typeface="+mn-ea"/>
              <a:cs typeface="+mn-cs"/>
            </a:endParaRPr>
          </a:p>
        </p:txBody>
      </p:sp>
      <p:sp>
        <p:nvSpPr>
          <p:cNvPr id="90" name="Google Shape;90;p19"/>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r>
              <a:rPr lang="ru"/>
              <a:t>Задачей тестирования стабильности является проверка работоспособности приложения при длительном (многочасовом) тестировании со средним уровнем нагрузки. </a:t>
            </a:r>
            <a:endParaRPr/>
          </a:p>
          <a:p>
            <a:r>
              <a:rPr lang="ru"/>
              <a:t>Времена выполнения операций могут играть в данном виде тестирования второстепенную роль. </a:t>
            </a:r>
            <a:endParaRPr/>
          </a:p>
          <a:p>
            <a:r>
              <a:rPr lang="ru"/>
              <a:t>На первое место выходит отсутствие "утечек" памяти, перезапусков серверов под нагрузкой и другие аспекты влияющие именно на стабильность работы.</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Терминология</a:t>
            </a:r>
            <a:endParaRPr sz="3200" b="1" spc="-1">
              <a:solidFill>
                <a:srgbClr val="004892"/>
              </a:solidFill>
              <a:latin typeface="Montserrat"/>
              <a:ea typeface="+mn-ea"/>
              <a:cs typeface="+mn-cs"/>
            </a:endParaRPr>
          </a:p>
        </p:txBody>
      </p:sp>
      <p:sp>
        <p:nvSpPr>
          <p:cNvPr id="96" name="Google Shape;96;p20"/>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indent="-363979">
              <a:buSzPts val="1600"/>
            </a:pPr>
            <a:r>
              <a:rPr lang="ru" sz="1764"/>
              <a:t>Виртуальный пользователь - программный процесс, циклически выполняющий моделируемые операции</a:t>
            </a:r>
            <a:endParaRPr sz="1764"/>
          </a:p>
          <a:p>
            <a:pPr indent="-363979">
              <a:buSzPts val="1600"/>
            </a:pPr>
            <a:r>
              <a:rPr lang="ru" sz="1764"/>
              <a:t>Итерация – это один повтор выполняемой в цикле операции</a:t>
            </a:r>
            <a:endParaRPr sz="1764"/>
          </a:p>
          <a:p>
            <a:pPr indent="-363979">
              <a:buSzPts val="1600"/>
            </a:pPr>
            <a:r>
              <a:rPr lang="ru" sz="1764"/>
              <a:t>Интенсивность выполнения операции - частота выполнения операции в единицу времени, в тестовом скрипте задается интервалом времени между итерациями</a:t>
            </a:r>
            <a:endParaRPr sz="1764"/>
          </a:p>
          <a:p>
            <a:pPr indent="-363979">
              <a:buSzPts val="1600"/>
            </a:pPr>
            <a:r>
              <a:rPr lang="ru" sz="1764"/>
              <a:t>Нагрузка - совокупное выполнение операций на общем ресурсе </a:t>
            </a:r>
            <a:endParaRPr sz="1764"/>
          </a:p>
          <a:p>
            <a:pPr indent="-363979">
              <a:buSzPts val="1600"/>
            </a:pPr>
            <a:r>
              <a:rPr lang="ru" sz="1764"/>
              <a:t>Производительность - количество выполняемых операций за период времени (N операций за M часов)</a:t>
            </a:r>
            <a:endParaRPr sz="1764"/>
          </a:p>
          <a:p>
            <a:pPr indent="-363979">
              <a:buSzPts val="1600"/>
            </a:pPr>
            <a:r>
              <a:rPr lang="ru" sz="1764"/>
              <a:t>Масштабируемость приложения - пропорциональный рост производительности при увеличении нагрузки</a:t>
            </a:r>
            <a:endParaRPr sz="1764"/>
          </a:p>
          <a:p>
            <a:pPr indent="-363979">
              <a:buSzPts val="1600"/>
            </a:pPr>
            <a:r>
              <a:rPr lang="ru" sz="1764"/>
              <a:t>Профиль нагрузки - это набор операций с заданными интенсивностями, полученный на основе сбора статистических данных либо определенный путем анализа требований к тестируемой системе</a:t>
            </a:r>
            <a:endParaRPr sz="1764"/>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Общие цели тестирования</a:t>
            </a:r>
            <a:endParaRPr sz="3200" b="1" spc="-1" dirty="0">
              <a:solidFill>
                <a:srgbClr val="004892"/>
              </a:solidFill>
              <a:latin typeface="Montserrat"/>
              <a:ea typeface="+mn-ea"/>
              <a:cs typeface="+mn-cs"/>
            </a:endParaRPr>
          </a:p>
        </p:txBody>
      </p:sp>
      <p:sp>
        <p:nvSpPr>
          <p:cNvPr id="102" name="Google Shape;102;p21"/>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a:lnSpc>
                <a:spcPct val="150000"/>
              </a:lnSpc>
            </a:pPr>
            <a:r>
              <a:rPr lang="ru" sz="2000" dirty="0"/>
              <a:t>Оценка производительности и работоспособности приложения на этапе разработки и передачи в эксплуатацию</a:t>
            </a:r>
            <a:endParaRPr sz="2000" dirty="0"/>
          </a:p>
          <a:p>
            <a:pPr>
              <a:lnSpc>
                <a:spcPct val="150000"/>
              </a:lnSpc>
            </a:pPr>
            <a:r>
              <a:rPr lang="ru" sz="2000" dirty="0"/>
              <a:t>Оценка производительности и работоспособности приложения на этапе выпуска новых релизов</a:t>
            </a:r>
            <a:endParaRPr sz="2000" dirty="0"/>
          </a:p>
          <a:p>
            <a:pPr>
              <a:lnSpc>
                <a:spcPct val="150000"/>
              </a:lnSpc>
            </a:pPr>
            <a:r>
              <a:rPr lang="ru" sz="2000" dirty="0"/>
              <a:t>Оптимизация производительности приложения, включая настройки серверов и оптимизацию кода</a:t>
            </a:r>
            <a:endParaRPr sz="2000" dirty="0"/>
          </a:p>
          <a:p>
            <a:pPr>
              <a:lnSpc>
                <a:spcPct val="150000"/>
              </a:lnSpc>
            </a:pPr>
            <a:r>
              <a:rPr lang="ru" sz="2000" dirty="0"/>
              <a:t>Подбор соответствующей для данного приложения аппаратной (программной платформы) и конфигурации сервера</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Этапы проведения тестирования</a:t>
            </a:r>
            <a:endParaRPr sz="3200" b="1" spc="-1" dirty="0">
              <a:solidFill>
                <a:srgbClr val="004892"/>
              </a:solidFill>
              <a:latin typeface="Montserrat"/>
              <a:ea typeface="+mn-ea"/>
              <a:cs typeface="+mn-cs"/>
            </a:endParaRPr>
          </a:p>
        </p:txBody>
      </p:sp>
      <p:sp>
        <p:nvSpPr>
          <p:cNvPr id="108" name="Google Shape;108;p22"/>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a:lnSpc>
                <a:spcPct val="150000"/>
              </a:lnSpc>
            </a:pPr>
            <a:r>
              <a:rPr lang="ru" sz="2000" dirty="0"/>
              <a:t>Анализ требований и сбор информации о тестируемой системе.</a:t>
            </a:r>
            <a:endParaRPr sz="2000" dirty="0"/>
          </a:p>
          <a:p>
            <a:pPr>
              <a:lnSpc>
                <a:spcPct val="150000"/>
              </a:lnSpc>
            </a:pPr>
            <a:r>
              <a:rPr lang="ru" sz="2000" dirty="0"/>
              <a:t>Разработка модели нагрузки</a:t>
            </a:r>
            <a:endParaRPr sz="2000" dirty="0"/>
          </a:p>
          <a:p>
            <a:pPr>
              <a:lnSpc>
                <a:spcPct val="150000"/>
              </a:lnSpc>
            </a:pPr>
            <a:r>
              <a:rPr lang="ru" sz="2000" dirty="0"/>
              <a:t>Выбор инструмента для нагрузочного тестирования</a:t>
            </a:r>
            <a:endParaRPr sz="2000" dirty="0"/>
          </a:p>
          <a:p>
            <a:pPr>
              <a:lnSpc>
                <a:spcPct val="150000"/>
              </a:lnSpc>
            </a:pPr>
            <a:r>
              <a:rPr lang="ru" sz="2000" dirty="0"/>
              <a:t>Создание и отладка тестовых скриптов</a:t>
            </a:r>
            <a:endParaRPr sz="2000" dirty="0"/>
          </a:p>
          <a:p>
            <a:pPr>
              <a:lnSpc>
                <a:spcPct val="150000"/>
              </a:lnSpc>
            </a:pPr>
            <a:r>
              <a:rPr lang="ru" sz="2000" dirty="0"/>
              <a:t>Проведение тестирования</a:t>
            </a:r>
            <a:endParaRPr sz="2000" dirty="0"/>
          </a:p>
          <a:p>
            <a:pPr>
              <a:lnSpc>
                <a:spcPct val="150000"/>
              </a:lnSpc>
            </a:pPr>
            <a:r>
              <a:rPr lang="ru" sz="2000" dirty="0"/>
              <a:t>Анализ результатов</a:t>
            </a:r>
            <a:endParaRPr sz="2000" dirty="0"/>
          </a:p>
          <a:p>
            <a:pPr>
              <a:lnSpc>
                <a:spcPct val="150000"/>
              </a:lnSpc>
            </a:pPr>
            <a:r>
              <a:rPr lang="ru" sz="2000" dirty="0"/>
              <a:t>Подготовка, отправка и публикация отчета по проведенному нагрузочному тестированию</a:t>
            </a:r>
            <a:endParaRPr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Анализ требований</a:t>
            </a:r>
            <a:endParaRPr sz="3200" b="1" spc="-1" dirty="0">
              <a:solidFill>
                <a:srgbClr val="004892"/>
              </a:solidFill>
              <a:latin typeface="Montserrat"/>
              <a:ea typeface="+mn-ea"/>
              <a:cs typeface="+mn-cs"/>
            </a:endParaRPr>
          </a:p>
        </p:txBody>
      </p:sp>
      <p:sp>
        <p:nvSpPr>
          <p:cNvPr id="114" name="Google Shape;114;p23"/>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buNone/>
            </a:pPr>
            <a:r>
              <a:rPr lang="ru"/>
              <a:t>Необходимо выделить характеристики как критерии успешности прохождения тестов:</a:t>
            </a:r>
            <a:endParaRPr/>
          </a:p>
          <a:p>
            <a:pPr>
              <a:spcBef>
                <a:spcPts val="1764"/>
              </a:spcBef>
            </a:pPr>
            <a:r>
              <a:rPr lang="ru"/>
              <a:t>Время отклика (время необходимое для открытия страницы или получения ожидаемого результата)</a:t>
            </a:r>
            <a:endParaRPr/>
          </a:p>
          <a:p>
            <a:r>
              <a:rPr lang="ru"/>
              <a:t>Интенсивность (число запросов в секунду – (Qps)</a:t>
            </a:r>
            <a:endParaRPr/>
          </a:p>
          <a:p>
            <a:r>
              <a:rPr lang="ru"/>
              <a:t>Используемые ресурсы (загрузка процессора, кол-во используемой памяти, дисковое и сетевой I/O)</a:t>
            </a:r>
            <a:endParaRPr/>
          </a:p>
          <a:p>
            <a:r>
              <a:rPr lang="ru"/>
              <a:t>Максимальное количество пользователей (определяет число пользователей, способных работать с системой в условиях заданной конфигурации)</a:t>
            </a:r>
            <a:endParaRPr/>
          </a:p>
          <a:p>
            <a:pPr marL="0" indent="0">
              <a:spcAft>
                <a:spcPts val="1764"/>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Анализ требований</a:t>
            </a:r>
            <a:endParaRPr sz="3200" b="1" spc="-1" dirty="0">
              <a:solidFill>
                <a:srgbClr val="004892"/>
              </a:solidFill>
              <a:latin typeface="Montserrat"/>
              <a:ea typeface="+mn-ea"/>
              <a:cs typeface="+mn-cs"/>
            </a:endParaRPr>
          </a:p>
        </p:txBody>
      </p:sp>
      <p:sp>
        <p:nvSpPr>
          <p:cNvPr id="120" name="Google Shape;120;p24"/>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buNone/>
            </a:pPr>
            <a:r>
              <a:rPr lang="ru" sz="2400" dirty="0"/>
              <a:t>На основании чего разрабатываются?</a:t>
            </a:r>
            <a:endParaRPr sz="2400" dirty="0"/>
          </a:p>
          <a:p>
            <a:pPr>
              <a:spcBef>
                <a:spcPts val="1764"/>
              </a:spcBef>
            </a:pPr>
            <a:r>
              <a:rPr lang="ru" sz="2400" dirty="0"/>
              <a:t>анализ общепринятых критериев производительности</a:t>
            </a:r>
            <a:endParaRPr sz="2400" dirty="0"/>
          </a:p>
          <a:p>
            <a:r>
              <a:rPr lang="ru" sz="2400" dirty="0"/>
              <a:t>анализ производительности конкурирующих приложений</a:t>
            </a:r>
            <a:endParaRPr sz="2400" dirty="0"/>
          </a:p>
          <a:p>
            <a:r>
              <a:rPr lang="ru" sz="2400" dirty="0"/>
              <a:t>анализ производительности эксплуатируемой версии приложения, с целью определения требующих профилирования функций, процессов, операций и т.д.</a:t>
            </a:r>
            <a:endParaRPr sz="2400" dirty="0"/>
          </a:p>
          <a:p>
            <a:r>
              <a:rPr lang="ru" sz="2400" dirty="0"/>
              <a:t>анализ экспертного мнения разработчиков, системных администраторов и администраторов баз данных, инженеров по нагрузочному тестированию.</a:t>
            </a:r>
            <a:endParaRPr sz="2400" dirty="0"/>
          </a:p>
          <a:p>
            <a:r>
              <a:rPr lang="ru" sz="2400" dirty="0"/>
              <a:t>анализ мнения целевых пользователей (групп пользователей)</a:t>
            </a:r>
            <a:endParaRPr sz="2400" dirty="0"/>
          </a:p>
          <a:p>
            <a:pPr marL="0" indent="0">
              <a:spcAft>
                <a:spcPts val="1764"/>
              </a:spcAft>
              <a:buNone/>
            </a:pPr>
            <a:endParaRPr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Определение базового профиля нагрузки</a:t>
            </a:r>
            <a:endParaRPr sz="3200" b="1" spc="-1" dirty="0">
              <a:solidFill>
                <a:srgbClr val="004892"/>
              </a:solidFill>
              <a:latin typeface="Montserrat"/>
              <a:ea typeface="+mn-ea"/>
              <a:cs typeface="+mn-cs"/>
            </a:endParaRPr>
          </a:p>
        </p:txBody>
      </p:sp>
      <p:sp>
        <p:nvSpPr>
          <p:cNvPr id="126" name="Google Shape;126;p25"/>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b="1"/>
          </a:p>
        </p:txBody>
      </p:sp>
      <p:pic>
        <p:nvPicPr>
          <p:cNvPr id="127" name="Google Shape;127;p25"/>
          <p:cNvPicPr preferRelativeResize="0"/>
          <p:nvPr/>
        </p:nvPicPr>
        <p:blipFill rotWithShape="1">
          <a:blip r:embed="rId3">
            <a:alphaModFix/>
          </a:blip>
          <a:srcRect l="28302" t="11137" r="5738" b="25937"/>
          <a:stretch/>
        </p:blipFill>
        <p:spPr>
          <a:xfrm>
            <a:off x="919093" y="1703481"/>
            <a:ext cx="8923074" cy="5573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Конфигурация тестового стенда</a:t>
            </a:r>
            <a:endParaRPr sz="3200" b="1" spc="-1" dirty="0">
              <a:solidFill>
                <a:srgbClr val="004892"/>
              </a:solidFill>
              <a:latin typeface="Montserrat"/>
              <a:ea typeface="+mn-ea"/>
              <a:cs typeface="+mn-cs"/>
            </a:endParaRPr>
          </a:p>
        </p:txBody>
      </p:sp>
      <p:sp>
        <p:nvSpPr>
          <p:cNvPr id="133" name="Google Shape;133;p26"/>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a:lnSpc>
                <a:spcPct val="100000"/>
              </a:lnSpc>
            </a:pPr>
            <a:r>
              <a:rPr lang="ru" sz="2000" dirty="0"/>
              <a:t>Hardware</a:t>
            </a:r>
            <a:endParaRPr sz="2000" dirty="0"/>
          </a:p>
          <a:p>
            <a:pPr lvl="1">
              <a:lnSpc>
                <a:spcPct val="100000"/>
              </a:lnSpc>
              <a:spcBef>
                <a:spcPts val="0"/>
              </a:spcBef>
            </a:pPr>
            <a:r>
              <a:rPr lang="ru" sz="1800" dirty="0"/>
              <a:t>процессор (тип, частота, количество ядер и т.д)</a:t>
            </a:r>
            <a:endParaRPr sz="1800" dirty="0"/>
          </a:p>
          <a:p>
            <a:pPr lvl="1">
              <a:lnSpc>
                <a:spcPct val="100000"/>
              </a:lnSpc>
              <a:spcBef>
                <a:spcPts val="0"/>
              </a:spcBef>
            </a:pPr>
            <a:r>
              <a:rPr lang="ru" sz="1800" dirty="0"/>
              <a:t>оперативная память (тип, объем, тайминг, эффективная частота и т.д.)</a:t>
            </a:r>
            <a:endParaRPr sz="1800" dirty="0"/>
          </a:p>
          <a:p>
            <a:pPr lvl="1">
              <a:lnSpc>
                <a:spcPct val="100000"/>
              </a:lnSpc>
              <a:spcBef>
                <a:spcPts val="0"/>
              </a:spcBef>
            </a:pPr>
            <a:r>
              <a:rPr lang="ru" sz="1800" dirty="0"/>
              <a:t>жесткие диски (тип, скорость и т.д.)</a:t>
            </a:r>
            <a:endParaRPr sz="1800" dirty="0"/>
          </a:p>
          <a:p>
            <a:pPr>
              <a:lnSpc>
                <a:spcPct val="100000"/>
              </a:lnSpc>
            </a:pPr>
            <a:r>
              <a:rPr lang="ru" sz="2000" dirty="0"/>
              <a:t>Software</a:t>
            </a:r>
            <a:endParaRPr sz="2000" dirty="0"/>
          </a:p>
          <a:p>
            <a:pPr lvl="1">
              <a:lnSpc>
                <a:spcPct val="100000"/>
              </a:lnSpc>
              <a:spcBef>
                <a:spcPts val="0"/>
              </a:spcBef>
            </a:pPr>
            <a:r>
              <a:rPr lang="ru" sz="1800" dirty="0"/>
              <a:t>Операционная система</a:t>
            </a:r>
            <a:endParaRPr sz="1800" dirty="0"/>
          </a:p>
          <a:p>
            <a:pPr lvl="1">
              <a:lnSpc>
                <a:spcPct val="100000"/>
              </a:lnSpc>
              <a:spcBef>
                <a:spcPts val="0"/>
              </a:spcBef>
            </a:pPr>
            <a:r>
              <a:rPr lang="ru" sz="1800" dirty="0"/>
              <a:t>Драйвера</a:t>
            </a:r>
            <a:endParaRPr sz="1800" dirty="0"/>
          </a:p>
          <a:p>
            <a:pPr>
              <a:lnSpc>
                <a:spcPct val="100000"/>
              </a:lnSpc>
            </a:pPr>
            <a:r>
              <a:rPr lang="ru" sz="2000" dirty="0"/>
              <a:t>Network</a:t>
            </a:r>
            <a:endParaRPr sz="2000" dirty="0"/>
          </a:p>
          <a:p>
            <a:pPr lvl="1">
              <a:lnSpc>
                <a:spcPct val="100000"/>
              </a:lnSpc>
              <a:spcBef>
                <a:spcPts val="0"/>
              </a:spcBef>
            </a:pPr>
            <a:r>
              <a:rPr lang="ru" sz="1800" dirty="0"/>
              <a:t>топология сети</a:t>
            </a:r>
            <a:endParaRPr sz="1800" dirty="0"/>
          </a:p>
          <a:p>
            <a:pPr lvl="1">
              <a:lnSpc>
                <a:spcPct val="100000"/>
              </a:lnSpc>
              <a:spcBef>
                <a:spcPts val="0"/>
              </a:spcBef>
            </a:pPr>
            <a:r>
              <a:rPr lang="ru" sz="1800" dirty="0"/>
              <a:t>пропускная способность</a:t>
            </a:r>
            <a:endParaRPr sz="1800" dirty="0"/>
          </a:p>
          <a:p>
            <a:pPr lvl="1">
              <a:lnSpc>
                <a:spcPct val="100000"/>
              </a:lnSpc>
              <a:spcBef>
                <a:spcPts val="0"/>
              </a:spcBef>
            </a:pPr>
            <a:r>
              <a:rPr lang="ru" sz="1800" dirty="0"/>
              <a:t>протокол передачи данных</a:t>
            </a:r>
            <a:endParaRPr sz="1800" dirty="0"/>
          </a:p>
          <a:p>
            <a:pPr>
              <a:lnSpc>
                <a:spcPct val="100000"/>
              </a:lnSpc>
            </a:pPr>
            <a:r>
              <a:rPr lang="ru" sz="2000" dirty="0"/>
              <a:t>Application</a:t>
            </a:r>
            <a:endParaRPr sz="2000" dirty="0"/>
          </a:p>
          <a:p>
            <a:pPr lvl="1">
              <a:lnSpc>
                <a:spcPct val="100000"/>
              </a:lnSpc>
              <a:spcBef>
                <a:spcPts val="0"/>
              </a:spcBef>
            </a:pPr>
            <a:r>
              <a:rPr lang="ru" sz="1800" dirty="0"/>
              <a:t>Архитектура</a:t>
            </a:r>
            <a:endParaRPr sz="1800" dirty="0"/>
          </a:p>
          <a:p>
            <a:pPr lvl="1">
              <a:lnSpc>
                <a:spcPct val="100000"/>
              </a:lnSpc>
              <a:spcBef>
                <a:spcPts val="0"/>
              </a:spcBef>
            </a:pPr>
            <a:r>
              <a:rPr lang="ru" sz="1800" dirty="0"/>
              <a:t>База данных (структура + данные)</a:t>
            </a:r>
            <a:endParaRPr sz="1800" dirty="0"/>
          </a:p>
          <a:p>
            <a:pPr lvl="1">
              <a:lnSpc>
                <a:spcPct val="100000"/>
              </a:lnSpc>
              <a:spcBef>
                <a:spcPts val="0"/>
              </a:spcBef>
            </a:pPr>
            <a:r>
              <a:rPr lang="ru" sz="1800" dirty="0"/>
              <a:t>программное обеспечение, необходимое для работы приложения (например, для Java приложений - JVM)</a:t>
            </a:r>
            <a:endParaRPr sz="1800" dirty="0"/>
          </a:p>
          <a:p>
            <a:pPr marL="0" indent="0">
              <a:lnSpc>
                <a:spcPct val="100000"/>
              </a:lnSpc>
              <a:buNone/>
            </a:pPr>
            <a:endParaRPr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Инструменты для нагрузочного тестирования</a:t>
            </a:r>
            <a:endParaRPr sz="3200" b="1" spc="-1" dirty="0">
              <a:solidFill>
                <a:srgbClr val="004892"/>
              </a:solidFill>
              <a:latin typeface="Montserrat"/>
              <a:ea typeface="+mn-ea"/>
              <a:cs typeface="+mn-cs"/>
            </a:endParaRPr>
          </a:p>
        </p:txBody>
      </p:sp>
      <p:sp>
        <p:nvSpPr>
          <p:cNvPr id="139" name="Google Shape;139;p27"/>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a:lnSpc>
                <a:spcPct val="150000"/>
              </a:lnSpc>
            </a:pPr>
            <a:r>
              <a:rPr lang="ru"/>
              <a:t>HP LoadRunner</a:t>
            </a:r>
            <a:endParaRPr/>
          </a:p>
          <a:p>
            <a:pPr>
              <a:lnSpc>
                <a:spcPct val="150000"/>
              </a:lnSpc>
            </a:pPr>
            <a:r>
              <a:rPr lang="ru"/>
              <a:t>Rational Performance Tester</a:t>
            </a:r>
            <a:endParaRPr/>
          </a:p>
          <a:p>
            <a:pPr>
              <a:lnSpc>
                <a:spcPct val="150000"/>
              </a:lnSpc>
            </a:pPr>
            <a:r>
              <a:rPr lang="ru"/>
              <a:t>Silk Performer</a:t>
            </a:r>
            <a:endParaRPr/>
          </a:p>
          <a:p>
            <a:pPr>
              <a:lnSpc>
                <a:spcPct val="150000"/>
              </a:lnSpc>
            </a:pPr>
            <a:r>
              <a:rPr lang="ru"/>
              <a:t>LoadComplete Web Load Testing</a:t>
            </a:r>
            <a:endParaRPr/>
          </a:p>
          <a:p>
            <a:pPr>
              <a:lnSpc>
                <a:spcPct val="150000"/>
              </a:lnSpc>
            </a:pPr>
            <a:r>
              <a:rPr lang="ru"/>
              <a:t>NeoLoad</a:t>
            </a:r>
            <a:endParaRPr/>
          </a:p>
          <a:p>
            <a:pPr>
              <a:lnSpc>
                <a:spcPct val="150000"/>
              </a:lnSpc>
            </a:pPr>
            <a:r>
              <a:rPr lang="ru"/>
              <a:t>Jmeter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JMeter</a:t>
            </a:r>
            <a:endParaRPr sz="3200" b="1" spc="-1">
              <a:solidFill>
                <a:srgbClr val="004892"/>
              </a:solidFill>
              <a:latin typeface="Montserrat"/>
              <a:ea typeface="+mn-ea"/>
              <a:cs typeface="+mn-cs"/>
            </a:endParaRPr>
          </a:p>
        </p:txBody>
      </p:sp>
      <p:sp>
        <p:nvSpPr>
          <p:cNvPr id="145" name="Google Shape;145;p28"/>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r>
              <a:rPr lang="ru"/>
              <a:t>Web - HTTP, HTTPS</a:t>
            </a:r>
            <a:endParaRPr/>
          </a:p>
          <a:p>
            <a:r>
              <a:rPr lang="ru"/>
              <a:t>SOAP</a:t>
            </a:r>
            <a:endParaRPr/>
          </a:p>
          <a:p>
            <a:r>
              <a:rPr lang="ru"/>
              <a:t>FTP</a:t>
            </a:r>
            <a:endParaRPr/>
          </a:p>
          <a:p>
            <a:r>
              <a:rPr lang="ru"/>
              <a:t>Database via JDBC</a:t>
            </a:r>
            <a:endParaRPr/>
          </a:p>
          <a:p>
            <a:r>
              <a:rPr lang="ru"/>
              <a:t>LDAP</a:t>
            </a:r>
            <a:endParaRPr/>
          </a:p>
          <a:p>
            <a:r>
              <a:rPr lang="ru"/>
              <a:t>Message-oriented middleware (MOM) via JMS</a:t>
            </a:r>
            <a:endParaRPr/>
          </a:p>
          <a:p>
            <a:r>
              <a:rPr lang="ru"/>
              <a:t>Mail - SMTP(S), POP3(S) and IMAP(S)</a:t>
            </a:r>
            <a:endParaRPr/>
          </a:p>
          <a:p>
            <a:r>
              <a:rPr lang="ru"/>
              <a:t>MongoDB (NoSQL)</a:t>
            </a:r>
            <a:endParaRPr/>
          </a:p>
          <a:p>
            <a:r>
              <a:rPr lang="ru"/>
              <a:t>Native commands or shell scripts</a:t>
            </a:r>
            <a:endParaRPr/>
          </a:p>
          <a:p>
            <a:r>
              <a:rPr lang="ru"/>
              <a:t>TCP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9"/>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JMeter. Threads</a:t>
            </a:r>
            <a:endParaRPr sz="3200" b="1" spc="-1">
              <a:solidFill>
                <a:srgbClr val="004892"/>
              </a:solidFill>
              <a:latin typeface="Montserrat"/>
              <a:ea typeface="+mn-ea"/>
              <a:cs typeface="+mn-cs"/>
            </a:endParaRPr>
          </a:p>
        </p:txBody>
      </p:sp>
      <p:sp>
        <p:nvSpPr>
          <p:cNvPr id="151" name="Google Shape;151;p29"/>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52" name="Google Shape;152;p29"/>
          <p:cNvPicPr preferRelativeResize="0"/>
          <p:nvPr/>
        </p:nvPicPr>
        <p:blipFill>
          <a:blip r:embed="rId3">
            <a:alphaModFix/>
          </a:blip>
          <a:stretch>
            <a:fillRect/>
          </a:stretch>
        </p:blipFill>
        <p:spPr>
          <a:xfrm>
            <a:off x="1310139" y="1495814"/>
            <a:ext cx="8340831" cy="45479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0"/>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Threads</a:t>
            </a:r>
            <a:endParaRPr sz="3200" b="1" spc="-1" dirty="0">
              <a:solidFill>
                <a:srgbClr val="004892"/>
              </a:solidFill>
              <a:latin typeface="Montserrat"/>
              <a:ea typeface="+mn-ea"/>
              <a:cs typeface="+mn-cs"/>
            </a:endParaRPr>
          </a:p>
          <a:p>
            <a:pPr>
              <a:lnSpc>
                <a:spcPct val="100000"/>
              </a:lnSpc>
              <a:buFont typeface="Arial"/>
            </a:pPr>
            <a:endParaRPr sz="3200" b="1" spc="-1" dirty="0">
              <a:solidFill>
                <a:srgbClr val="004892"/>
              </a:solidFill>
              <a:latin typeface="Montserrat"/>
              <a:ea typeface="+mn-ea"/>
              <a:cs typeface="+mn-cs"/>
            </a:endParaRPr>
          </a:p>
        </p:txBody>
      </p:sp>
      <p:sp>
        <p:nvSpPr>
          <p:cNvPr id="158" name="Google Shape;158;p30"/>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59" name="Google Shape;159;p30"/>
          <p:cNvPicPr preferRelativeResize="0"/>
          <p:nvPr/>
        </p:nvPicPr>
        <p:blipFill rotWithShape="1">
          <a:blip r:embed="rId3">
            <a:alphaModFix/>
          </a:blip>
          <a:srcRect l="26546" t="11925" b="51979"/>
          <a:stretch/>
        </p:blipFill>
        <p:spPr>
          <a:xfrm>
            <a:off x="649714" y="1948865"/>
            <a:ext cx="9457557" cy="23477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HTTP Request</a:t>
            </a:r>
            <a:endParaRPr sz="3200" b="1" spc="-1" dirty="0">
              <a:solidFill>
                <a:srgbClr val="004892"/>
              </a:solidFill>
              <a:latin typeface="Montserrat"/>
              <a:ea typeface="+mn-ea"/>
              <a:cs typeface="+mn-cs"/>
            </a:endParaRPr>
          </a:p>
        </p:txBody>
      </p:sp>
      <p:sp>
        <p:nvSpPr>
          <p:cNvPr id="165" name="Google Shape;165;p31"/>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66" name="Google Shape;166;p31"/>
          <p:cNvPicPr preferRelativeResize="0"/>
          <p:nvPr/>
        </p:nvPicPr>
        <p:blipFill rotWithShape="1">
          <a:blip r:embed="rId3">
            <a:alphaModFix/>
          </a:blip>
          <a:srcRect t="12418"/>
          <a:stretch/>
        </p:blipFill>
        <p:spPr>
          <a:xfrm>
            <a:off x="751314" y="1399479"/>
            <a:ext cx="9392386" cy="53156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2"/>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Recording controller</a:t>
            </a:r>
            <a:endParaRPr sz="3200" b="1" spc="-1" dirty="0">
              <a:solidFill>
                <a:srgbClr val="004892"/>
              </a:solidFill>
              <a:latin typeface="Montserrat"/>
              <a:ea typeface="+mn-ea"/>
              <a:cs typeface="+mn-cs"/>
            </a:endParaRPr>
          </a:p>
        </p:txBody>
      </p:sp>
      <p:sp>
        <p:nvSpPr>
          <p:cNvPr id="172" name="Google Shape;172;p32"/>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73" name="Google Shape;173;p32"/>
          <p:cNvPicPr preferRelativeResize="0"/>
          <p:nvPr/>
        </p:nvPicPr>
        <p:blipFill rotWithShape="1">
          <a:blip r:embed="rId3">
            <a:alphaModFix/>
          </a:blip>
          <a:srcRect r="31450" b="52182"/>
          <a:stretch/>
        </p:blipFill>
        <p:spPr>
          <a:xfrm>
            <a:off x="1077798" y="1693845"/>
            <a:ext cx="6901950" cy="273564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Script Recorder</a:t>
            </a:r>
            <a:endParaRPr sz="3200" b="1" spc="-1" dirty="0">
              <a:solidFill>
                <a:srgbClr val="004892"/>
              </a:solidFill>
              <a:latin typeface="Montserrat"/>
              <a:ea typeface="+mn-ea"/>
              <a:cs typeface="+mn-cs"/>
            </a:endParaRPr>
          </a:p>
        </p:txBody>
      </p:sp>
      <p:sp>
        <p:nvSpPr>
          <p:cNvPr id="179" name="Google Shape;179;p33"/>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80" name="Google Shape;180;p33"/>
          <p:cNvPicPr preferRelativeResize="0"/>
          <p:nvPr/>
        </p:nvPicPr>
        <p:blipFill rotWithShape="1">
          <a:blip r:embed="rId3">
            <a:alphaModFix/>
          </a:blip>
          <a:srcRect t="10809"/>
          <a:stretch/>
        </p:blipFill>
        <p:spPr>
          <a:xfrm>
            <a:off x="853836" y="1374917"/>
            <a:ext cx="9235854" cy="53401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View Result</a:t>
            </a:r>
            <a:endParaRPr sz="3200" b="1" spc="-1" dirty="0">
              <a:solidFill>
                <a:srgbClr val="004892"/>
              </a:solidFill>
              <a:latin typeface="Montserrat"/>
              <a:ea typeface="+mn-ea"/>
              <a:cs typeface="+mn-cs"/>
            </a:endParaRPr>
          </a:p>
        </p:txBody>
      </p:sp>
      <p:sp>
        <p:nvSpPr>
          <p:cNvPr id="186" name="Google Shape;186;p34"/>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87" name="Google Shape;187;p34"/>
          <p:cNvPicPr preferRelativeResize="0"/>
          <p:nvPr/>
        </p:nvPicPr>
        <p:blipFill rotWithShape="1">
          <a:blip r:embed="rId3">
            <a:alphaModFix/>
          </a:blip>
          <a:srcRect t="10546" b="55098"/>
          <a:stretch/>
        </p:blipFill>
        <p:spPr>
          <a:xfrm>
            <a:off x="376836" y="2640346"/>
            <a:ext cx="10079567" cy="21730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5"/>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Start record</a:t>
            </a:r>
            <a:endParaRPr sz="3200" b="1" spc="-1" dirty="0">
              <a:solidFill>
                <a:srgbClr val="004892"/>
              </a:solidFill>
              <a:latin typeface="Montserrat"/>
              <a:ea typeface="+mn-ea"/>
              <a:cs typeface="+mn-cs"/>
            </a:endParaRPr>
          </a:p>
        </p:txBody>
      </p:sp>
      <p:sp>
        <p:nvSpPr>
          <p:cNvPr id="193" name="Google Shape;193;p35"/>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194" name="Google Shape;194;p35"/>
          <p:cNvPicPr preferRelativeResize="0"/>
          <p:nvPr/>
        </p:nvPicPr>
        <p:blipFill rotWithShape="1">
          <a:blip r:embed="rId3">
            <a:alphaModFix/>
          </a:blip>
          <a:srcRect t="10754"/>
          <a:stretch/>
        </p:blipFill>
        <p:spPr>
          <a:xfrm>
            <a:off x="600799" y="1383074"/>
            <a:ext cx="9241613" cy="45819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6"/>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Настройка браузера</a:t>
            </a:r>
            <a:endParaRPr sz="3200" b="1" spc="-1" dirty="0">
              <a:solidFill>
                <a:srgbClr val="004892"/>
              </a:solidFill>
              <a:latin typeface="Montserrat"/>
              <a:ea typeface="+mn-ea"/>
              <a:cs typeface="+mn-cs"/>
            </a:endParaRPr>
          </a:p>
        </p:txBody>
      </p:sp>
      <p:sp>
        <p:nvSpPr>
          <p:cNvPr id="200" name="Google Shape;200;p36"/>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01" name="Google Shape;201;p36"/>
          <p:cNvPicPr preferRelativeResize="0"/>
          <p:nvPr/>
        </p:nvPicPr>
        <p:blipFill rotWithShape="1">
          <a:blip r:embed="rId3">
            <a:alphaModFix/>
          </a:blip>
          <a:srcRect t="9507" b="12943"/>
          <a:stretch/>
        </p:blipFill>
        <p:spPr>
          <a:xfrm>
            <a:off x="2105206" y="1953011"/>
            <a:ext cx="6963653" cy="42329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Запись теста</a:t>
            </a:r>
            <a:endParaRPr sz="3200" b="1" spc="-1" dirty="0">
              <a:solidFill>
                <a:srgbClr val="004892"/>
              </a:solidFill>
              <a:latin typeface="Montserrat"/>
              <a:ea typeface="+mn-ea"/>
              <a:cs typeface="+mn-cs"/>
            </a:endParaRPr>
          </a:p>
        </p:txBody>
      </p:sp>
      <p:sp>
        <p:nvSpPr>
          <p:cNvPr id="207" name="Google Shape;207;p37"/>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08" name="Google Shape;208;p37"/>
          <p:cNvPicPr preferRelativeResize="0"/>
          <p:nvPr/>
        </p:nvPicPr>
        <p:blipFill>
          <a:blip r:embed="rId3">
            <a:alphaModFix/>
          </a:blip>
          <a:stretch>
            <a:fillRect/>
          </a:stretch>
        </p:blipFill>
        <p:spPr>
          <a:xfrm>
            <a:off x="489866" y="1420939"/>
            <a:ext cx="9712082" cy="353834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8"/>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Запись теста</a:t>
            </a:r>
            <a:endParaRPr sz="3200" b="1" spc="-1" dirty="0">
              <a:solidFill>
                <a:srgbClr val="004892"/>
              </a:solidFill>
              <a:latin typeface="Montserrat"/>
              <a:ea typeface="+mn-ea"/>
              <a:cs typeface="+mn-cs"/>
            </a:endParaRPr>
          </a:p>
          <a:p>
            <a:pPr>
              <a:lnSpc>
                <a:spcPct val="100000"/>
              </a:lnSpc>
              <a:buFont typeface="Arial"/>
            </a:pPr>
            <a:endParaRPr sz="3200" b="1" spc="-1" dirty="0">
              <a:solidFill>
                <a:srgbClr val="004892"/>
              </a:solidFill>
              <a:latin typeface="Montserrat"/>
              <a:ea typeface="+mn-ea"/>
              <a:cs typeface="+mn-cs"/>
            </a:endParaRPr>
          </a:p>
        </p:txBody>
      </p:sp>
      <p:sp>
        <p:nvSpPr>
          <p:cNvPr id="214" name="Google Shape;214;p38"/>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15" name="Google Shape;215;p38"/>
          <p:cNvPicPr preferRelativeResize="0"/>
          <p:nvPr/>
        </p:nvPicPr>
        <p:blipFill>
          <a:blip r:embed="rId3">
            <a:alphaModFix/>
          </a:blip>
          <a:stretch>
            <a:fillRect/>
          </a:stretch>
        </p:blipFill>
        <p:spPr>
          <a:xfrm>
            <a:off x="1225536" y="1630985"/>
            <a:ext cx="7833044" cy="439936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9"/>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Простой отчет</a:t>
            </a:r>
            <a:endParaRPr sz="3200" b="1" spc="-1" dirty="0">
              <a:solidFill>
                <a:srgbClr val="004892"/>
              </a:solidFill>
              <a:latin typeface="Montserrat"/>
              <a:ea typeface="+mn-ea"/>
              <a:cs typeface="+mn-cs"/>
            </a:endParaRPr>
          </a:p>
        </p:txBody>
      </p:sp>
      <p:sp>
        <p:nvSpPr>
          <p:cNvPr id="221" name="Google Shape;221;p39"/>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22" name="Google Shape;222;p39"/>
          <p:cNvPicPr preferRelativeResize="0"/>
          <p:nvPr/>
        </p:nvPicPr>
        <p:blipFill>
          <a:blip r:embed="rId3">
            <a:alphaModFix/>
          </a:blip>
          <a:stretch>
            <a:fillRect/>
          </a:stretch>
        </p:blipFill>
        <p:spPr>
          <a:xfrm>
            <a:off x="1081203" y="1997303"/>
            <a:ext cx="7822164" cy="35383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0"/>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«Пользователи»</a:t>
            </a:r>
            <a:endParaRPr sz="3200" b="1" spc="-1" dirty="0">
              <a:solidFill>
                <a:srgbClr val="004892"/>
              </a:solidFill>
              <a:latin typeface="Montserrat"/>
              <a:ea typeface="+mn-ea"/>
              <a:cs typeface="+mn-cs"/>
            </a:endParaRPr>
          </a:p>
        </p:txBody>
      </p:sp>
      <p:sp>
        <p:nvSpPr>
          <p:cNvPr id="228" name="Google Shape;228;p40"/>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29" name="Google Shape;229;p40"/>
          <p:cNvPicPr preferRelativeResize="0"/>
          <p:nvPr/>
        </p:nvPicPr>
        <p:blipFill>
          <a:blip r:embed="rId3">
            <a:alphaModFix/>
          </a:blip>
          <a:stretch>
            <a:fillRect/>
          </a:stretch>
        </p:blipFill>
        <p:spPr>
          <a:xfrm>
            <a:off x="804852" y="1644929"/>
            <a:ext cx="9082110" cy="32023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1"/>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Запуск теста</a:t>
            </a:r>
            <a:endParaRPr sz="3200" b="1" spc="-1" dirty="0">
              <a:solidFill>
                <a:srgbClr val="004892"/>
              </a:solidFill>
              <a:latin typeface="Montserrat"/>
              <a:ea typeface="+mn-ea"/>
              <a:cs typeface="+mn-cs"/>
            </a:endParaRPr>
          </a:p>
        </p:txBody>
      </p:sp>
      <p:sp>
        <p:nvSpPr>
          <p:cNvPr id="235" name="Google Shape;235;p41"/>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36" name="Google Shape;236;p41"/>
          <p:cNvPicPr preferRelativeResize="0"/>
          <p:nvPr/>
        </p:nvPicPr>
        <p:blipFill>
          <a:blip r:embed="rId3">
            <a:alphaModFix/>
          </a:blip>
          <a:stretch>
            <a:fillRect/>
          </a:stretch>
        </p:blipFill>
        <p:spPr>
          <a:xfrm>
            <a:off x="3342333" y="2034717"/>
            <a:ext cx="4210319" cy="450430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JMeter. Отчет</a:t>
            </a:r>
            <a:endParaRPr sz="3200" b="1" spc="-1">
              <a:solidFill>
                <a:srgbClr val="004892"/>
              </a:solidFill>
              <a:latin typeface="Montserrat"/>
              <a:ea typeface="+mn-ea"/>
              <a:cs typeface="+mn-cs"/>
            </a:endParaRPr>
          </a:p>
        </p:txBody>
      </p:sp>
      <p:sp>
        <p:nvSpPr>
          <p:cNvPr id="242" name="Google Shape;242;p42"/>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marL="0" indent="0">
              <a:spcAft>
                <a:spcPts val="1764"/>
              </a:spcAft>
              <a:buNone/>
            </a:pPr>
            <a:endParaRPr/>
          </a:p>
        </p:txBody>
      </p:sp>
      <p:pic>
        <p:nvPicPr>
          <p:cNvPr id="243" name="Google Shape;243;p42"/>
          <p:cNvPicPr preferRelativeResize="0"/>
          <p:nvPr/>
        </p:nvPicPr>
        <p:blipFill>
          <a:blip r:embed="rId3">
            <a:alphaModFix/>
          </a:blip>
          <a:stretch>
            <a:fillRect/>
          </a:stretch>
        </p:blipFill>
        <p:spPr>
          <a:xfrm>
            <a:off x="306123" y="2297811"/>
            <a:ext cx="10079567" cy="22230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3"/>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dirty="0">
                <a:solidFill>
                  <a:srgbClr val="004892"/>
                </a:solidFill>
                <a:latin typeface="Montserrat"/>
                <a:ea typeface="+mn-ea"/>
                <a:cs typeface="+mn-cs"/>
              </a:rPr>
              <a:t>JMeter. Отчет</a:t>
            </a:r>
            <a:endParaRPr sz="3200" b="1" spc="-1" dirty="0">
              <a:solidFill>
                <a:srgbClr val="004892"/>
              </a:solidFill>
              <a:latin typeface="Montserrat"/>
              <a:ea typeface="+mn-ea"/>
              <a:cs typeface="+mn-cs"/>
            </a:endParaRPr>
          </a:p>
        </p:txBody>
      </p:sp>
      <p:sp>
        <p:nvSpPr>
          <p:cNvPr id="249" name="Google Shape;249;p43"/>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r>
              <a:rPr lang="ru"/>
              <a:t>Sample – количество запросов</a:t>
            </a:r>
            <a:endParaRPr/>
          </a:p>
          <a:p>
            <a:r>
              <a:rPr lang="ru"/>
              <a:t>Avg – среднее арифметическое для всех ответов</a:t>
            </a:r>
            <a:endParaRPr/>
          </a:p>
          <a:p>
            <a:r>
              <a:rPr lang="ru"/>
              <a:t>(сумма «времен»/количество)</a:t>
            </a:r>
            <a:endParaRPr/>
          </a:p>
          <a:p>
            <a:r>
              <a:rPr lang="ru"/>
              <a:t>Minimal response time (ms) – время отклика</a:t>
            </a:r>
            <a:endParaRPr/>
          </a:p>
          <a:p>
            <a:r>
              <a:rPr lang="ru"/>
              <a:t>Maximum response time (ms) – время отклика</a:t>
            </a:r>
            <a:endParaRPr/>
          </a:p>
          <a:p>
            <a:r>
              <a:rPr lang="ru"/>
              <a:t>Deviation - Отклонение</a:t>
            </a:r>
            <a:endParaRPr/>
          </a:p>
          <a:p>
            <a:r>
              <a:rPr lang="ru"/>
              <a:t>Error rate – процент упавших тестов</a:t>
            </a:r>
            <a:endParaRPr/>
          </a:p>
          <a:p>
            <a:r>
              <a:rPr lang="ru"/>
              <a:t>Throughput – кол-во запросов в секунду. Больше -</a:t>
            </a:r>
            <a:endParaRPr/>
          </a:p>
          <a:p>
            <a:r>
              <a:rPr lang="ru"/>
              <a:t>лучше</a:t>
            </a:r>
            <a:endParaRPr/>
          </a:p>
          <a:p>
            <a:r>
              <a:rPr lang="ru"/>
              <a:t>KB/Sec – пропускная характеристика</a:t>
            </a:r>
            <a:endParaRPr/>
          </a:p>
          <a:p>
            <a:r>
              <a:rPr lang="ru"/>
              <a:t>Avg. Bytes – средний размер ответа</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649714" y="654077"/>
            <a:ext cx="9392384" cy="841617"/>
          </a:xfrm>
          <a:prstGeom prst="rect">
            <a:avLst/>
          </a:prstGeom>
          <a:noFill/>
          <a:ln>
            <a:noFill/>
          </a:ln>
        </p:spPr>
        <p:style>
          <a:lnRef idx="0">
            <a:scrgbClr r="0" g="0" b="0"/>
          </a:lnRef>
          <a:fillRef idx="0">
            <a:scrgbClr r="0" g="0" b="0"/>
          </a:fillRef>
          <a:effectRef idx="0">
            <a:scrgbClr r="0" g="0" b="0"/>
          </a:effectRef>
          <a:fontRef idx="minor"/>
        </p:style>
        <p:txBody>
          <a:bodyPr spcFirstLastPara="1" wrap="square" lIns="91425" tIns="91425" rIns="91425" bIns="91425" anchor="t" anchorCtr="0">
            <a:noAutofit/>
          </a:bodyPr>
          <a:lstStyle/>
          <a:p>
            <a:pPr>
              <a:lnSpc>
                <a:spcPct val="100000"/>
              </a:lnSpc>
              <a:buFont typeface="Arial"/>
            </a:pPr>
            <a:r>
              <a:rPr lang="ru" sz="3200" b="1" spc="-1">
                <a:solidFill>
                  <a:srgbClr val="004892"/>
                </a:solidFill>
                <a:latin typeface="Montserrat"/>
                <a:ea typeface="+mn-ea"/>
                <a:cs typeface="+mn-cs"/>
              </a:rPr>
              <a:t>Выводы</a:t>
            </a:r>
            <a:endParaRPr sz="3200" b="1" spc="-1">
              <a:solidFill>
                <a:srgbClr val="004892"/>
              </a:solidFill>
              <a:latin typeface="Montserrat"/>
              <a:ea typeface="+mn-ea"/>
              <a:cs typeface="+mn-cs"/>
            </a:endParaRPr>
          </a:p>
        </p:txBody>
      </p:sp>
      <p:sp>
        <p:nvSpPr>
          <p:cNvPr id="255" name="Google Shape;255;p44"/>
          <p:cNvSpPr txBox="1">
            <a:spLocks noGrp="1"/>
          </p:cNvSpPr>
          <p:nvPr>
            <p:ph type="body" idx="1"/>
          </p:nvPr>
        </p:nvSpPr>
        <p:spPr>
          <a:xfrm>
            <a:off x="649714" y="1693853"/>
            <a:ext cx="9392384" cy="5021264"/>
          </a:xfrm>
          <a:prstGeom prst="rect">
            <a:avLst/>
          </a:prstGeom>
        </p:spPr>
        <p:txBody>
          <a:bodyPr spcFirstLastPara="1" wrap="square" lIns="100779" tIns="100779" rIns="100779" bIns="100779" anchor="t" anchorCtr="0">
            <a:noAutofit/>
          </a:bodyPr>
          <a:lstStyle/>
          <a:p>
            <a:pPr indent="-363979">
              <a:buSzPts val="1600"/>
            </a:pPr>
            <a:r>
              <a:rPr lang="ru" sz="1764"/>
              <a:t>провести дополнительный анализ и тестирование требований по производительности</a:t>
            </a:r>
            <a:endParaRPr sz="1764"/>
          </a:p>
          <a:p>
            <a:pPr indent="-363979">
              <a:buSzPts val="1600"/>
            </a:pPr>
            <a:r>
              <a:rPr lang="ru" sz="1764"/>
              <a:t>уточнить параметры и характеристики производительности</a:t>
            </a:r>
            <a:endParaRPr sz="1764"/>
          </a:p>
          <a:p>
            <a:pPr indent="-363979">
              <a:buSzPts val="1600"/>
            </a:pPr>
            <a:r>
              <a:rPr lang="ru" sz="1764"/>
              <a:t>получить на выходе план предстоящих работ связанных с нагрузочным тестированием</a:t>
            </a:r>
            <a:endParaRPr sz="1764"/>
          </a:p>
          <a:p>
            <a:pPr indent="-363979">
              <a:buSzPts val="1600"/>
            </a:pPr>
            <a:r>
              <a:rPr lang="ru" sz="1764"/>
              <a:t>определить предельный объем данных системы (с сохранением приемлемой производительности)</a:t>
            </a:r>
            <a:endParaRPr sz="1764"/>
          </a:p>
          <a:p>
            <a:pPr indent="-363979">
              <a:buSzPts val="1600"/>
            </a:pPr>
            <a:r>
              <a:rPr lang="ru" sz="1764"/>
              <a:t>определить предельное количество пользователей системы (с сохранением приемлемой производительности)</a:t>
            </a:r>
            <a:endParaRPr sz="1764"/>
          </a:p>
          <a:p>
            <a:pPr indent="-363979">
              <a:buSzPts val="1600"/>
            </a:pPr>
            <a:r>
              <a:rPr lang="ru" sz="1764"/>
              <a:t>определить ресурсоёмкие операции или сценарии (для дальнейшего профилирования системы)</a:t>
            </a:r>
            <a:endParaRPr sz="1764"/>
          </a:p>
          <a:p>
            <a:pPr indent="-363979">
              <a:buSzPts val="1600"/>
            </a:pPr>
            <a:r>
              <a:rPr lang="ru" sz="1764"/>
              <a:t>отслеживать эффект от вводимых оптимизаций системы при регулярных измерениях производительности, используя разработанные и проверенные модели нагрузки</a:t>
            </a:r>
            <a:endParaRPr sz="1764"/>
          </a:p>
          <a:p>
            <a:pPr marL="0" indent="0">
              <a:buNone/>
            </a:pPr>
            <a:endParaRPr sz="1764"/>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581040" y="800280"/>
            <a:ext cx="8048160" cy="2297160"/>
          </a:xfrm>
          <a:prstGeom prst="rect">
            <a:avLst/>
          </a:prstGeom>
          <a:noFill/>
          <a:ln>
            <a:noFill/>
          </a:ln>
        </p:spPr>
        <p:txBody>
          <a:bodyPr>
            <a:noAutofit/>
          </a:bodyPr>
          <a:lstStyle/>
          <a:p>
            <a:pPr>
              <a:lnSpc>
                <a:spcPct val="100000"/>
              </a:lnSpc>
            </a:pPr>
            <a:r>
              <a:rPr lang="ru-RU" sz="4800" b="0" strike="noStrike" spc="-1" dirty="0">
                <a:solidFill>
                  <a:srgbClr val="004892"/>
                </a:solidFill>
                <a:latin typeface="Montserrat Bold"/>
              </a:rPr>
              <a:t>Спасибо за внимание!</a:t>
            </a:r>
            <a:endParaRPr lang="en-US" sz="4800" b="0" strike="noStrike" spc="-1" dirty="0">
              <a:solidFill>
                <a:srgbClr val="000000"/>
              </a:solidFill>
              <a:latin typeface="Geometria light"/>
            </a:endParaRPr>
          </a:p>
        </p:txBody>
      </p:sp>
      <p:sp>
        <p:nvSpPr>
          <p:cNvPr id="10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a:solidFill>
                  <a:srgbClr val="173277"/>
                </a:solidFill>
                <a:latin typeface="Montserrat"/>
              </a:rPr>
              <a:t>202</a:t>
            </a:r>
            <a:r>
              <a:rPr lang="ru-RU" sz="1600" b="0" strike="noStrike" spc="-1" dirty="0">
                <a:solidFill>
                  <a:srgbClr val="173277"/>
                </a:solidFill>
                <a:latin typeface="Montserrat"/>
              </a:rPr>
              <a:t>2</a:t>
            </a:r>
            <a:endParaRPr lang="en-US" sz="1600" b="0" strike="noStrike" spc="-1" dirty="0">
              <a:latin typeface="Arial"/>
            </a:endParaRPr>
          </a:p>
        </p:txBody>
      </p:sp>
      <p:pic>
        <p:nvPicPr>
          <p:cNvPr id="104" name="Рисунок 2"/>
          <p:cNvPicPr/>
          <p:nvPr/>
        </p:nvPicPr>
        <p:blipFill>
          <a:blip r:embed="rId2"/>
          <a:stretch/>
        </p:blipFill>
        <p:spPr>
          <a:xfrm>
            <a:off x="4115160" y="5178600"/>
            <a:ext cx="2232360" cy="1426680"/>
          </a:xfrm>
          <a:prstGeom prst="rect">
            <a:avLst/>
          </a:prstGeom>
          <a:ln>
            <a:noFill/>
          </a:ln>
        </p:spPr>
      </p:pic>
      <p:sp>
        <p:nvSpPr>
          <p:cNvPr id="105" name="CustomShape 3"/>
          <p:cNvSpPr/>
          <p:nvPr/>
        </p:nvSpPr>
        <p:spPr>
          <a:xfrm>
            <a:off x="581040" y="1833480"/>
            <a:ext cx="8048160" cy="229716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b="0" strike="noStrike" spc="-1">
                <a:solidFill>
                  <a:srgbClr val="004892"/>
                </a:solidFill>
                <a:latin typeface="Montserrat"/>
              </a:rPr>
              <a:t>Рады видеть Вас на наших мероприятиях!</a:t>
            </a:r>
            <a:endParaRPr lang="en-US" sz="2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963</TotalTime>
  <Words>942</Words>
  <Application>Microsoft Office PowerPoint</Application>
  <PresentationFormat>Произвольный</PresentationFormat>
  <Paragraphs>130</Paragraphs>
  <Slides>33</Slides>
  <Notes>31</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33</vt:i4>
      </vt:variant>
    </vt:vector>
  </HeadingPairs>
  <TitlesOfParts>
    <vt:vector size="44" baseType="lpstr">
      <vt:lpstr>Arial</vt:lpstr>
      <vt:lpstr>Calibri</vt:lpstr>
      <vt:lpstr>DejaVu Sans</vt:lpstr>
      <vt:lpstr>Geometria  bold</vt:lpstr>
      <vt:lpstr>Geometria light</vt:lpstr>
      <vt:lpstr>Montserrat</vt:lpstr>
      <vt:lpstr>Montserrat Bold</vt:lpstr>
      <vt:lpstr>Symbol</vt:lpstr>
      <vt:lpstr>Times New Roman</vt:lpstr>
      <vt:lpstr>Wingdings</vt:lpstr>
      <vt:lpstr>Office Theme</vt:lpstr>
      <vt:lpstr>Презентация PowerPoint</vt:lpstr>
      <vt:lpstr>Определение</vt:lpstr>
      <vt:lpstr>Виды нагрузочного тестирования</vt:lpstr>
      <vt:lpstr>Тестирование производительности</vt:lpstr>
      <vt:lpstr>Стрессовое тестирование</vt:lpstr>
      <vt:lpstr>Объемное тестирование</vt:lpstr>
      <vt:lpstr>Тестирование стабильности</vt:lpstr>
      <vt:lpstr>Терминология</vt:lpstr>
      <vt:lpstr>Общие цели тестирования</vt:lpstr>
      <vt:lpstr>Этапы проведения тестирования</vt:lpstr>
      <vt:lpstr>Анализ требований</vt:lpstr>
      <vt:lpstr>Анализ требований</vt:lpstr>
      <vt:lpstr>Определение базового профиля нагрузки</vt:lpstr>
      <vt:lpstr>Конфигурация тестового стенда</vt:lpstr>
      <vt:lpstr>Инструменты для нагрузочного тестирования</vt:lpstr>
      <vt:lpstr>JMeter</vt:lpstr>
      <vt:lpstr>JMeter. Threads</vt:lpstr>
      <vt:lpstr>JMeter. Threads </vt:lpstr>
      <vt:lpstr>JMeter. HTTP Request</vt:lpstr>
      <vt:lpstr>JMeter. Recording controller</vt:lpstr>
      <vt:lpstr>JMeter. Script Recorder</vt:lpstr>
      <vt:lpstr>JMeter. View Result</vt:lpstr>
      <vt:lpstr>JMeter. Start record</vt:lpstr>
      <vt:lpstr>JMeter. Настройка браузера</vt:lpstr>
      <vt:lpstr>JMeter. Запись теста</vt:lpstr>
      <vt:lpstr>JMeter. Запись теста </vt:lpstr>
      <vt:lpstr>JMeter. Простой отчет</vt:lpstr>
      <vt:lpstr>JMeter. «Пользователи»</vt:lpstr>
      <vt:lpstr>JMeter. Запуск теста</vt:lpstr>
      <vt:lpstr>JMeter. Отчет</vt:lpstr>
      <vt:lpstr>JMeter. Отчет</vt:lpstr>
      <vt:lpstr>Выводы</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Результаты приемной  кампании - 2019</dc:title>
  <dc:subject/>
  <dc:creator>afsafasfasfa afafaf</dc:creator>
  <dc:description/>
  <cp:lastModifiedBy>Anton Romanov</cp:lastModifiedBy>
  <cp:revision>179</cp:revision>
  <dcterms:created xsi:type="dcterms:W3CDTF">2019-09-16T12:04:13Z</dcterms:created>
  <dcterms:modified xsi:type="dcterms:W3CDTF">2022-10-18T11:46:09Z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Произвольный</vt:lpwstr>
  </property>
  <property fmtid="{D5CDD505-2E9C-101B-9397-08002B2CF9AE}" pid="9" name="ScaleCrop">
    <vt:bool>false</vt:bool>
  </property>
  <property fmtid="{D5CDD505-2E9C-101B-9397-08002B2CF9AE}" pid="10" name="ShareDoc">
    <vt:bool>false</vt:bool>
  </property>
  <property fmtid="{D5CDD505-2E9C-101B-9397-08002B2CF9AE}" pid="11" name="Slides">
    <vt:i4>5</vt:i4>
  </property>
</Properties>
</file>