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0" r:id="rId21"/>
  </p:sldIdLst>
  <p:sldSz cx="10691813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67">
          <p15:clr>
            <a:srgbClr val="A4A3A4"/>
          </p15:clr>
        </p15:guide>
        <p15:guide id="2" pos="238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118" y="67"/>
      </p:cViewPr>
      <p:guideLst>
        <p:guide orient="horz" pos="2381"/>
        <p:guide pos="336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3259" y="-91"/>
      </p:cViewPr>
      <p:guideLst>
        <p:guide orient="horz" pos="3367"/>
        <p:guide pos="238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838A3-E109-4F1D-9FCC-EF09B935682D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2A091-47E7-4B68-B6F0-E4FEA3D8F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697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52000-7BA7-4E98-9AAA-4FCE25FD58C5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44563" y="801688"/>
            <a:ext cx="5670550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1EDE4-ECEF-4344-A377-B4F7BE165A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8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d87e53d8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d87e53d8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d87e53d8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d87e53d8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d87e53d8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d87e53d8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d87e53d8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d87e53d8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d87e53d8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d87e53d8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d87e53d8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d87e53d8a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d87e53d8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d87e53d8a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d87e53d8a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d87e53d8a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87e53d8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87e53d8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b6a640c5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6b6a640c5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b6a640c5f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6b6a640c5f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6b6a640c5f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6b6a640c5f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b6a640c5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b6a640c5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b6a640c5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6b6a640c5f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d87e53d8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d87e53d8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d87e53d8a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d87e53d8a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d87e53d8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d87e53d8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d87e53d8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d87e53d8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4462" y="654077"/>
            <a:ext cx="9962890" cy="841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4462" y="1693854"/>
            <a:ext cx="9962890" cy="5021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03972" lvl="0" indent="-37797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007943" lvl="1" indent="-349980" algn="just">
              <a:spcBef>
                <a:spcPts val="1764"/>
              </a:spcBef>
              <a:spcAft>
                <a:spcPts val="0"/>
              </a:spcAft>
              <a:buSzPts val="1400"/>
              <a:buChar char="○"/>
              <a:defRPr/>
            </a:lvl2pPr>
            <a:lvl3pPr marL="1511915" lvl="2" indent="-349980" algn="just">
              <a:spcBef>
                <a:spcPts val="1764"/>
              </a:spcBef>
              <a:spcAft>
                <a:spcPts val="0"/>
              </a:spcAft>
              <a:buSzPts val="1400"/>
              <a:buChar char="■"/>
              <a:defRPr/>
            </a:lvl3pPr>
            <a:lvl4pPr marL="2015886" lvl="3" indent="-349980" algn="just">
              <a:spcBef>
                <a:spcPts val="1764"/>
              </a:spcBef>
              <a:spcAft>
                <a:spcPts val="0"/>
              </a:spcAft>
              <a:buSzPts val="1400"/>
              <a:buChar char="●"/>
              <a:defRPr/>
            </a:lvl4pPr>
            <a:lvl5pPr marL="2519858" lvl="4" indent="-349980" algn="just">
              <a:spcBef>
                <a:spcPts val="1764"/>
              </a:spcBef>
              <a:spcAft>
                <a:spcPts val="0"/>
              </a:spcAft>
              <a:buSzPts val="1400"/>
              <a:buChar char="○"/>
              <a:defRPr/>
            </a:lvl5pPr>
            <a:lvl6pPr marL="3023829" lvl="5" indent="-349980" algn="just">
              <a:spcBef>
                <a:spcPts val="1764"/>
              </a:spcBef>
              <a:spcAft>
                <a:spcPts val="0"/>
              </a:spcAft>
              <a:buSzPts val="1400"/>
              <a:buChar char="■"/>
              <a:defRPr/>
            </a:lvl6pPr>
            <a:lvl7pPr marL="3527801" lvl="6" indent="-349980" algn="just">
              <a:spcBef>
                <a:spcPts val="1764"/>
              </a:spcBef>
              <a:spcAft>
                <a:spcPts val="0"/>
              </a:spcAft>
              <a:buSzPts val="1400"/>
              <a:buChar char="●"/>
              <a:defRPr/>
            </a:lvl7pPr>
            <a:lvl8pPr marL="4031772" lvl="7" indent="-349980" algn="just">
              <a:spcBef>
                <a:spcPts val="1764"/>
              </a:spcBef>
              <a:spcAft>
                <a:spcPts val="0"/>
              </a:spcAft>
              <a:buSzPts val="1400"/>
              <a:buChar char="○"/>
              <a:defRPr/>
            </a:lvl8pPr>
            <a:lvl9pPr marL="4535744" lvl="8" indent="-349980" algn="just">
              <a:spcBef>
                <a:spcPts val="1764"/>
              </a:spcBef>
              <a:spcAft>
                <a:spcPts val="1764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906598" y="6853777"/>
            <a:ext cx="641579" cy="5783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ru" smtClean="0"/>
              <a:pPr algn="r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657859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619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6619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7095A16-4C3A-49BC-BA45-ED63D8DC7979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18.10.2022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19D91D-1076-4D88-80F8-03FFDA14860F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90" b="0" strike="noStrike" spc="-1">
                <a:solidFill>
                  <a:srgbClr val="000000"/>
                </a:solidFill>
                <a:latin typeface="Geometria ligh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strike="noStrike" spc="-1">
                <a:solidFill>
                  <a:srgbClr val="000000"/>
                </a:solidFill>
                <a:latin typeface="Geometria ligh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reisfahrer.gitbooks.io/selenium-webdriver/content/GLOSSARY.html#selenium_webdriv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kreisfahrer.gitbooks.io/selenium-webdriver/content/webdriver_intro/index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manov73/selenium-exampl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lab.com/romanov73/tis-2017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004892"/>
                </a:solidFill>
                <a:latin typeface="Montserrat Bold"/>
              </a:rPr>
              <a:t>Тестирование программного обеспечения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3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85" name="CustomShape 3"/>
          <p:cNvSpPr/>
          <p:nvPr/>
        </p:nvSpPr>
        <p:spPr>
          <a:xfrm>
            <a:off x="581040" y="262404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Автоматизированное</a:t>
            </a: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тестирование.</a:t>
            </a: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Часть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2</a:t>
            </a:r>
            <a:endParaRPr lang="ru-RU" sz="2000" spc="-1" dirty="0">
              <a:solidFill>
                <a:srgbClr val="004892"/>
              </a:solidFill>
              <a:latin typeface="Montserra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220719" y="3595172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F50D9F-501E-4D8A-A3DD-C3F410680F6D}"/>
              </a:ext>
            </a:extLst>
          </p:cNvPr>
          <p:cNvSpPr/>
          <p:nvPr/>
        </p:nvSpPr>
        <p:spPr>
          <a:xfrm>
            <a:off x="5220719" y="3595172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Что это такое?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Selenium Webdriver</a:t>
            </a:r>
            <a:r>
              <a:rPr lang="ru"/>
              <a:t> - инструмент для автоматизации реального браузера, как локально, так и удаленно, наиболее близко имитирующий действия пользователя.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Для работы с Webdriver необходимо: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buAutoNum type="arabicPeriod"/>
            </a:pPr>
            <a:r>
              <a:rPr lang="ru" sz="2400" dirty="0"/>
              <a:t>Браузер. Это реальный браузер определенной версии, установленный на определенной ОС и имеющий свои настройки (по умолчанию или кастомные). </a:t>
            </a:r>
            <a:endParaRPr sz="2400" dirty="0"/>
          </a:p>
          <a:p>
            <a:pPr>
              <a:spcBef>
                <a:spcPts val="1764"/>
              </a:spcBef>
              <a:buAutoNum type="arabicPeriod"/>
            </a:pPr>
            <a:r>
              <a:rPr lang="ru" sz="2400" dirty="0"/>
              <a:t>Для управления браузером совершенно необходим driver браузера. Driver на самом деле является веб сервером, который запускает браузер и отправляет ему команды, а также закрывает его. У каждого браузера свой driver. </a:t>
            </a:r>
            <a:endParaRPr sz="2400" dirty="0"/>
          </a:p>
          <a:p>
            <a:pPr>
              <a:spcBef>
                <a:spcPts val="1764"/>
              </a:spcBef>
              <a:buAutoNum type="arabicPeriod"/>
            </a:pPr>
            <a:r>
              <a:rPr lang="ru" sz="2400" dirty="0"/>
              <a:t>Скрипт/тест, который содержит набор команд на определенном языке программирования для драйвера браузера. </a:t>
            </a:r>
            <a:endParaRPr sz="2400" dirty="0"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Основные компоненты WebDriver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2400" dirty="0"/>
              <a:t>Webdriver - самая важная сущность, ответственная за управление браузером. Основной ход скрипта/теста строится именно вокруг экземпляра этой сущности.</a:t>
            </a:r>
            <a:endParaRPr sz="2400" dirty="0"/>
          </a:p>
          <a:p>
            <a:pPr>
              <a:spcBef>
                <a:spcPts val="1764"/>
              </a:spcBef>
            </a:pPr>
            <a:r>
              <a:rPr lang="ru" sz="2400" dirty="0"/>
              <a:t>Webelement - вторая важная сущность, представляющая собой абстракцию над веб элементом (кнопки, ссылки, инпута и др.). </a:t>
            </a:r>
            <a:endParaRPr sz="2400" dirty="0"/>
          </a:p>
          <a:p>
            <a:pPr>
              <a:spcBef>
                <a:spcPts val="1764"/>
              </a:spcBef>
            </a:pPr>
            <a:r>
              <a:rPr lang="ru" sz="2400" dirty="0"/>
              <a:t>By - абстракция над локатором веб элемента. Этот класс инкапсулирует информацию о селекторе(например, CSS), а также сам локатор элемента, то есть всю информацию, необходимую для нахождения нужного элемента на странице.</a:t>
            </a:r>
            <a:endParaRPr sz="2400" dirty="0"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Этапы работы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buAutoNum type="arabicPeriod"/>
            </a:pPr>
            <a:r>
              <a:rPr lang="ru"/>
              <a:t>Нужно создать Webdriver:</a:t>
            </a:r>
            <a:endParaRPr/>
          </a:p>
          <a:p>
            <a:pPr marL="0" indent="0">
              <a:spcBef>
                <a:spcPts val="1764"/>
              </a:spcBef>
              <a:buNone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WebDriver driver = new ChromeDriver();</a:t>
            </a:r>
            <a:br>
              <a:rPr lang="ru"/>
            </a:br>
            <a:r>
              <a:rPr lang="ru"/>
              <a:t>	При выполнении этой команды будет запущен Chrome, при условии, что он установлен в директорию по умолчанию и путь к ChromeDriver сохранен в системной переменной PATH.</a:t>
            </a:r>
            <a:endParaRPr/>
          </a:p>
          <a:p>
            <a:pPr>
              <a:spcBef>
                <a:spcPts val="1764"/>
              </a:spcBef>
              <a:buAutoNum type="arabicPeriod"/>
            </a:pPr>
            <a:r>
              <a:rPr lang="ru"/>
              <a:t>Необходимо открыть тестируемое приложение, перейдя по url: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driver.get("http://mycompany.site.com");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Этапы работы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Arial"/>
            </a:pP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/>
              <a:t>3. Далее следует серия действий по нахождению элементов на странице и взаимодействию с ними:</a:t>
            </a:r>
            <a:endParaRPr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By elementLocator = By.id("#element_id");</a:t>
            </a:r>
            <a:br>
              <a:rPr lang="ru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	WebElement element = driver.findElement(elementLocator));</a:t>
            </a:r>
            <a:br>
              <a:rPr lang="ru"/>
            </a:br>
            <a:r>
              <a:rPr lang="ru"/>
              <a:t>Или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r>
              <a:rPr lang="ru" sz="1874" b="1">
                <a:latin typeface="Courier New"/>
                <a:ea typeface="Courier New"/>
                <a:cs typeface="Courier New"/>
                <a:sym typeface="Courier New"/>
              </a:rPr>
              <a:t>WebElement element = driver.findElement(By.id("#element_id")));</a:t>
            </a:r>
            <a:br>
              <a:rPr lang="ru"/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Этапы работы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Arial"/>
            </a:pP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 sz="2000" dirty="0"/>
              <a:t>После нахождения элемента, кликнем по нему:</a:t>
            </a:r>
            <a:endParaRPr sz="2000" dirty="0">
              <a:solidFill>
                <a:schemeClr val="dk1"/>
              </a:solidFill>
            </a:endParaRPr>
          </a:p>
          <a:p>
            <a:pPr marL="0" marR="167991" indent="503972">
              <a:lnSpc>
                <a:spcPct val="170000"/>
              </a:lnSpc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 sz="2000" b="1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element.click();</a:t>
            </a:r>
            <a:br>
              <a:rPr lang="ru" sz="2000" dirty="0">
                <a:solidFill>
                  <a:schemeClr val="dk1"/>
                </a:solidFill>
                <a:highlight>
                  <a:srgbClr val="F7F7F7"/>
                </a:highlight>
              </a:rPr>
            </a:br>
            <a:endParaRPr sz="2000" dirty="0"/>
          </a:p>
          <a:p>
            <a:pPr marL="0" indent="0">
              <a:spcBef>
                <a:spcPts val="1653"/>
              </a:spcBef>
              <a:buNone/>
            </a:pPr>
            <a:r>
              <a:rPr lang="ru" sz="2000" dirty="0"/>
              <a:t>4. В конце теста (часто также и в середине) должна быть какая-то проверка, которая и определит в конечном счете результат выполнения теста:</a:t>
            </a:r>
            <a:endParaRPr sz="2000" dirty="0">
              <a:solidFill>
                <a:schemeClr val="dk1"/>
              </a:solidFill>
            </a:endParaRPr>
          </a:p>
          <a:p>
            <a:pPr marL="0" marR="167991" indent="0">
              <a:lnSpc>
                <a:spcPct val="170000"/>
              </a:lnSpc>
              <a:spcBef>
                <a:spcPts val="1764"/>
              </a:spcBef>
              <a:buNone/>
            </a:pPr>
            <a:r>
              <a:rPr lang="ru" sz="2000" b="1" dirty="0">
                <a:solidFill>
                  <a:srgbClr val="FF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assertEquals("Webpage expected title", driver.getTitle());</a:t>
            </a:r>
            <a:br>
              <a:rPr lang="ru" sz="2000" dirty="0">
                <a:solidFill>
                  <a:schemeClr val="dk1"/>
                </a:solidFill>
                <a:highlight>
                  <a:srgbClr val="F7F7F7"/>
                </a:highlight>
              </a:rPr>
            </a:br>
            <a:r>
              <a:rPr lang="ru" sz="2000" dirty="0"/>
              <a:t>5. После теста надо закрыть браузер:</a:t>
            </a:r>
            <a:endParaRPr sz="2000" dirty="0">
              <a:solidFill>
                <a:schemeClr val="dk1"/>
              </a:solidFill>
            </a:endParaRPr>
          </a:p>
          <a:p>
            <a:pPr marL="0" marR="167991" indent="503972">
              <a:lnSpc>
                <a:spcPct val="170000"/>
              </a:lnSpc>
              <a:spcBef>
                <a:spcPts val="1653"/>
              </a:spcBef>
              <a:buNone/>
            </a:pPr>
            <a:r>
              <a:rPr lang="ru" sz="2000" b="1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driver.quit();</a:t>
            </a:r>
            <a:endParaRPr sz="2000" b="1" dirty="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1653"/>
              </a:spcBef>
              <a:spcAft>
                <a:spcPts val="1764"/>
              </a:spcAft>
              <a:buNone/>
            </a:pPr>
            <a:endParaRPr sz="2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Поиск элементов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/>
              <a:t>можно искать конкретно один элемент:</a:t>
            </a:r>
            <a:endParaRPr>
              <a:solidFill>
                <a:srgbClr val="000000"/>
              </a:solidFill>
            </a:endParaRPr>
          </a:p>
          <a:p>
            <a:pPr marL="0" marR="167991" indent="0">
              <a:lnSpc>
                <a:spcPct val="170000"/>
              </a:lnSpc>
              <a:spcBef>
                <a:spcPts val="1764"/>
              </a:spcBef>
              <a:buNone/>
            </a:pPr>
            <a:r>
              <a:rPr lang="ru" sz="1764" b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WebElement element = driver.findElement(By.id("#element_id")));</a:t>
            </a:r>
            <a:endParaRPr sz="1764" b="1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1653"/>
              </a:spcBef>
              <a:buNone/>
            </a:pPr>
            <a:r>
              <a:rPr lang="ru"/>
              <a:t>или несколько</a:t>
            </a:r>
            <a:endParaRPr>
              <a:solidFill>
                <a:srgbClr val="000000"/>
              </a:solidFill>
            </a:endParaRPr>
          </a:p>
          <a:p>
            <a:pPr marL="0" marR="167991" indent="0">
              <a:lnSpc>
                <a:spcPct val="170000"/>
              </a:lnSpc>
              <a:spcBef>
                <a:spcPts val="1764"/>
              </a:spcBef>
              <a:buNone/>
            </a:pPr>
            <a:r>
              <a:rPr lang="ru" sz="1543" b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List&lt;WebElement&gt; elements = driver.findElements(By.name("elements_name"))</a:t>
            </a:r>
            <a:endParaRPr sz="1543" b="1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1653"/>
              </a:spcBef>
              <a:spcAft>
                <a:spcPts val="1764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Не забываем про локаторы!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By.id</a:t>
            </a:r>
            <a:endParaRPr>
              <a:solidFill>
                <a:srgbClr val="000000"/>
              </a:solidFill>
            </a:endParaRPr>
          </a:p>
          <a:p>
            <a:pPr marL="0" marR="167991" indent="0">
              <a:lnSpc>
                <a:spcPct val="100000"/>
              </a:lnSpc>
              <a:spcBef>
                <a:spcPts val="992"/>
              </a:spcBef>
              <a:buNone/>
            </a:pPr>
            <a:r>
              <a:rPr lang="ru" sz="1543" b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WebElement element = driver.findElement(By.id("element_id"));</a:t>
            </a:r>
            <a:endParaRPr sz="1543" b="1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R="167991">
              <a:lnSpc>
                <a:spcPct val="100000"/>
              </a:lnSpc>
              <a:spcBef>
                <a:spcPts val="1653"/>
              </a:spcBef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By.name</a:t>
            </a:r>
            <a:endParaRPr>
              <a:solidFill>
                <a:srgbClr val="000000"/>
              </a:solidFill>
            </a:endParaRPr>
          </a:p>
          <a:p>
            <a:pPr marL="0" marR="167991" indent="0">
              <a:lnSpc>
                <a:spcPct val="100000"/>
              </a:lnSpc>
              <a:spcBef>
                <a:spcPts val="1653"/>
              </a:spcBef>
              <a:buNone/>
            </a:pPr>
            <a:r>
              <a:rPr lang="ru" sz="1543" b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WebElement element = driver.findElement(By.name("element_name"));</a:t>
            </a:r>
            <a:endParaRPr sz="1543" b="1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R="167991">
              <a:lnSpc>
                <a:spcPct val="100000"/>
              </a:lnSpc>
              <a:spcBef>
                <a:spcPts val="1653"/>
              </a:spcBef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By.className</a:t>
            </a:r>
            <a:endParaRPr>
              <a:solidFill>
                <a:srgbClr val="000000"/>
              </a:solidFill>
            </a:endParaRPr>
          </a:p>
          <a:p>
            <a:pPr marL="0" marR="167991" indent="0">
              <a:lnSpc>
                <a:spcPct val="100000"/>
              </a:lnSpc>
              <a:spcBef>
                <a:spcPts val="1653"/>
              </a:spcBef>
              <a:buNone/>
            </a:pPr>
            <a:r>
              <a:rPr lang="ru" sz="1543" b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WebElement element = driver.findElement(By.className("element_class"));</a:t>
            </a:r>
            <a:endParaRPr sz="1543" b="1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R="167991">
              <a:lnSpc>
                <a:spcPct val="100000"/>
              </a:lnSpc>
              <a:spcBef>
                <a:spcPts val="1653"/>
              </a:spcBef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By.TagName</a:t>
            </a:r>
            <a:endParaRPr>
              <a:solidFill>
                <a:srgbClr val="000000"/>
              </a:solidFill>
            </a:endParaRPr>
          </a:p>
          <a:p>
            <a:pPr marL="0" marR="167991" indent="0">
              <a:lnSpc>
                <a:spcPct val="100000"/>
              </a:lnSpc>
              <a:spcBef>
                <a:spcPts val="1653"/>
              </a:spcBef>
              <a:buNone/>
            </a:pPr>
            <a:r>
              <a:rPr lang="ru" sz="1543" b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List&lt;WebElement&gt; elements = driver.findElements(By.tagName("a"));</a:t>
            </a:r>
            <a:endParaRPr sz="1543" b="1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R="167991">
              <a:lnSpc>
                <a:spcPct val="100000"/>
              </a:lnSpc>
              <a:spcBef>
                <a:spcPts val="1653"/>
              </a:spcBef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By.LinkText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653"/>
              </a:spcBef>
              <a:buNone/>
            </a:pPr>
            <a:r>
              <a:rPr lang="ru" sz="1543" b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WebElement element = driver.findElement(By.linkText("text"));</a:t>
            </a:r>
            <a:endParaRPr sz="1543" b="1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992"/>
              </a:spcBef>
              <a:spcAft>
                <a:spcPts val="1764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Не забываем про локаторы!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Arial"/>
            </a:pP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ru">
                <a:solidFill>
                  <a:schemeClr val="dk1"/>
                </a:solidFill>
              </a:rPr>
              <a:t>By.PartialLinkText</a:t>
            </a: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992"/>
              </a:spcBef>
              <a:buClr>
                <a:schemeClr val="dk1"/>
              </a:buClr>
              <a:buSzPts val="1100"/>
              <a:buNone/>
            </a:pPr>
            <a:r>
              <a:rPr lang="ru" sz="1543" b="1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WebElement element = driver.findElement(By.partialLinkText("text"));</a:t>
            </a:r>
            <a:endParaRPr sz="1543" b="1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00000"/>
              </a:lnSpc>
              <a:spcBef>
                <a:spcPts val="992"/>
              </a:spcBef>
              <a:buClr>
                <a:schemeClr val="dk1"/>
              </a:buClr>
            </a:pPr>
            <a:r>
              <a:rPr lang="ru">
                <a:solidFill>
                  <a:schemeClr val="dk1"/>
                </a:solidFill>
              </a:rPr>
              <a:t>By.cssSelector</a:t>
            </a:r>
            <a:endParaRPr>
              <a:solidFill>
                <a:schemeClr val="dk1"/>
              </a:solidFill>
            </a:endParaRPr>
          </a:p>
          <a:p>
            <a:pPr marL="0" marR="167991" indent="0">
              <a:lnSpc>
                <a:spcPct val="100000"/>
              </a:lnSpc>
              <a:spcBef>
                <a:spcPts val="992"/>
              </a:spcBef>
              <a:buClr>
                <a:schemeClr val="dk1"/>
              </a:buClr>
              <a:buSzPts val="1100"/>
              <a:buNone/>
            </a:pPr>
            <a:r>
              <a:rPr lang="ru" sz="1543" b="1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WebElement element=driver.FindElement(By.cssSelector("div.main"));</a:t>
            </a:r>
            <a:endParaRPr sz="1543" b="1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00000"/>
              </a:lnSpc>
              <a:spcBef>
                <a:spcPts val="1653"/>
              </a:spcBef>
              <a:buClr>
                <a:schemeClr val="dk1"/>
              </a:buClr>
            </a:pPr>
            <a:r>
              <a:rPr lang="ru">
                <a:solidFill>
                  <a:schemeClr val="dk1"/>
                </a:solidFill>
              </a:rPr>
              <a:t>By.XPath</a:t>
            </a:r>
            <a:endParaRPr>
              <a:solidFill>
                <a:schemeClr val="dk1"/>
              </a:solidFill>
            </a:endParaRPr>
          </a:p>
          <a:p>
            <a:pPr marL="0" marR="167991" indent="0">
              <a:lnSpc>
                <a:spcPct val="100000"/>
              </a:lnSpc>
              <a:spcBef>
                <a:spcPts val="992"/>
              </a:spcBef>
              <a:buClr>
                <a:schemeClr val="dk1"/>
              </a:buClr>
              <a:buSzPts val="1100"/>
              <a:buNone/>
            </a:pPr>
            <a:r>
              <a:rPr lang="ru" sz="1543" b="1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WebElement element = driver.findElement(By.xpath("//div[@class='main']"));</a:t>
            </a:r>
            <a:endParaRPr sz="1543" b="1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Xpath</a:t>
            </a:r>
            <a:endParaRPr sz="3200" b="1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* – любой элемент</a:t>
            </a:r>
            <a:endParaRPr/>
          </a:p>
          <a:p>
            <a:r>
              <a:rPr lang="ru"/>
              <a:t>/ – следующий элемент по дому</a:t>
            </a:r>
            <a:endParaRPr/>
          </a:p>
          <a:p>
            <a:r>
              <a:rPr lang="ru"/>
              <a:t>// – пропуск n элементов по дому</a:t>
            </a:r>
            <a:endParaRPr/>
          </a:p>
          <a:p>
            <a:r>
              <a:rPr lang="ru"/>
              <a:t>*[@id=‘content’] – любой элемент с id=content</a:t>
            </a:r>
            <a:endParaRPr/>
          </a:p>
          <a:p>
            <a:r>
              <a:rPr lang="ru"/>
              <a:t>*[contains(@class, ‘content') – элемент, в имени класс которого есть content</a:t>
            </a:r>
            <a:endParaRPr/>
          </a:p>
          <a:p>
            <a:r>
              <a:rPr lang="ru"/>
              <a:t>*[1] – первый дочерний элемент в доме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Пример локатора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/>
              <a:t>Плохой локатор //*[@id="tsf"]/div[2]/div[1]/div[1]/div/div[2]/input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r>
              <a:rPr lang="ru"/>
              <a:t>Хороший локатор  //div[@class=’jsb’]//input[1]</a:t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301" y="2702297"/>
            <a:ext cx="7381183" cy="4136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Ожидания неявные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/>
              <a:t>Ожидания для обработки событий – неявные 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r>
              <a:rPr lang="ru" sz="1874" b="1">
                <a:latin typeface="Courier New"/>
                <a:ea typeface="Courier New"/>
                <a:cs typeface="Courier New"/>
                <a:sym typeface="Courier New"/>
              </a:rPr>
              <a:t>driver.manage().timeouts().implicitlyWait(10, TimeUnit.SECONDS);</a:t>
            </a:r>
            <a:endParaRPr sz="1874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Ожидания явные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34" name="Google Shape;134;p2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/>
              <a:t>Ожидания для обработки событий – явные</a:t>
            </a:r>
            <a:endParaRPr/>
          </a:p>
          <a:p>
            <a:pPr indent="-370979">
              <a:spcBef>
                <a:spcPts val="1764"/>
              </a:spcBef>
              <a:buSzPts val="1700"/>
              <a:buFont typeface="Courier New"/>
              <a:buChar char="●"/>
            </a:pPr>
            <a:r>
              <a:rPr lang="ru" sz="1874" b="1">
                <a:latin typeface="Courier New"/>
                <a:ea typeface="Courier New"/>
                <a:cs typeface="Courier New"/>
                <a:sym typeface="Courier New"/>
              </a:rPr>
              <a:t>WebDriverWait wait = new WebDriverWait(driver, waitTime);</a:t>
            </a:r>
            <a:endParaRPr sz="1874" b="1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Font typeface="Courier New"/>
              <a:buChar char="●"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wait.until(ExpectedConditions.visibilityOfElementLocated(By locator));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Font typeface="Courier New"/>
              <a:buChar char="●"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wait.until(ExpectedConditions.invisibilityOfElementLocated(By locator));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Font typeface="Courier New"/>
              <a:buChar char="●"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wait.until(ExpectedConditions.presenceOfAllElementsLocatedBy(By locator));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Assertions</a:t>
            </a:r>
            <a:endParaRPr sz="3200" b="1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40" name="Google Shape;140;p2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buFont typeface="Courier New"/>
              <a:buChar char="●"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assertTrue(message,boolean condition);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Font typeface="Courier New"/>
              <a:buChar char="●"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assertFalse(message,boolean condition);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Font typeface="Courier New"/>
              <a:buChar char="●"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assertEquals(expected,actual);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Font typeface="Courier New"/>
              <a:buChar char="●"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assertNotEquals(type,type);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Font typeface="Courier New"/>
              <a:buChar char="●"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assertNotNull(message,object);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Font typeface="Courier New"/>
              <a:buChar char="●"/>
            </a:pPr>
            <a:r>
              <a:rPr lang="ru" b="1">
                <a:latin typeface="Courier New"/>
                <a:ea typeface="Courier New"/>
                <a:cs typeface="Courier New"/>
                <a:sym typeface="Courier New"/>
              </a:rPr>
              <a:t>assertArrayEquals(array,array);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Page object</a:t>
            </a:r>
            <a:endParaRPr sz="3200" b="1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46" name="Google Shape;146;p2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/>
              <a:t>Page Object - один из наиболее полезных и используемых архитектурных решений в автоматизации. Данный шаблон проектирования помогает инкапсулировать работу с отдельными элементами страницы, что позволяет уменьшить количество кода и его поддержку.</a:t>
            </a:r>
            <a:endParaRPr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/>
              <a:t>Основные преимущества: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Разделение кода тестов и описания страниц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Объединение всех действий по работе с веб-страницей в одном месте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Page object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Arial"/>
            </a:pP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52" name="Google Shape;152;p2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123" y="1382987"/>
            <a:ext cx="10079567" cy="47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Ссылка на доки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https://kreisfahrer.gitbooks.io/selenium-webdriver/content/webdriver_intro/index.html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Пример проекта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65" name="Google Shape;165;p3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https://github.com/romanov73/selenium-example</a:t>
            </a:r>
            <a:endParaRPr/>
          </a:p>
          <a:p>
            <a:pPr marL="0" indent="0">
              <a:spcBef>
                <a:spcPts val="1764"/>
              </a:spcBef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https://gitlab.com/romanov73/tis-2017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004892"/>
                </a:solidFill>
                <a:latin typeface="Montserrat Bold"/>
              </a:rPr>
              <a:t>Спасибо за внимание!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4" name="Рисунок 2"/>
          <p:cNvPicPr/>
          <p:nvPr/>
        </p:nvPicPr>
        <p:blipFill>
          <a:blip r:embed="rId2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581040" y="183348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0" strike="noStrike" spc="-1">
                <a:solidFill>
                  <a:srgbClr val="004892"/>
                </a:solidFill>
                <a:latin typeface="Montserrat"/>
              </a:rPr>
              <a:t>Рады видеть Вас на наших мероприятиях!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960</TotalTime>
  <Words>905</Words>
  <Application>Microsoft Office PowerPoint</Application>
  <PresentationFormat>Произвольный</PresentationFormat>
  <Paragraphs>97</Paragraphs>
  <Slides>20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2" baseType="lpstr">
      <vt:lpstr>Arial</vt:lpstr>
      <vt:lpstr>Calibri</vt:lpstr>
      <vt:lpstr>Courier New</vt:lpstr>
      <vt:lpstr>DejaVu Sans</vt:lpstr>
      <vt:lpstr>Geometria  bold</vt:lpstr>
      <vt:lpstr>Geometria light</vt:lpstr>
      <vt:lpstr>Montserrat</vt:lpstr>
      <vt:lpstr>Montserrat Bold</vt:lpstr>
      <vt:lpstr>Symbol</vt:lpstr>
      <vt:lpstr>Times New Roman</vt:lpstr>
      <vt:lpstr>Wingdings</vt:lpstr>
      <vt:lpstr>Office Theme</vt:lpstr>
      <vt:lpstr>Презентация PowerPoint</vt:lpstr>
      <vt:lpstr>Что это такое?</vt:lpstr>
      <vt:lpstr>Для работы с Webdriver необходимо:</vt:lpstr>
      <vt:lpstr>Основные компоненты WebDriver</vt:lpstr>
      <vt:lpstr>Этапы работы</vt:lpstr>
      <vt:lpstr>Этапы работы </vt:lpstr>
      <vt:lpstr>Этапы работы </vt:lpstr>
      <vt:lpstr>Поиск элементов</vt:lpstr>
      <vt:lpstr>Не забываем про локаторы!</vt:lpstr>
      <vt:lpstr>Не забываем про локаторы! </vt:lpstr>
      <vt:lpstr>Xpath</vt:lpstr>
      <vt:lpstr>Пример локатора</vt:lpstr>
      <vt:lpstr>Ожидания неявные</vt:lpstr>
      <vt:lpstr>Ожидания явные</vt:lpstr>
      <vt:lpstr>Assertions</vt:lpstr>
      <vt:lpstr>Page object</vt:lpstr>
      <vt:lpstr>Page object </vt:lpstr>
      <vt:lpstr>Ссылка на доки</vt:lpstr>
      <vt:lpstr>Пример проекта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subject/>
  <dc:creator>afsafasfasfa afafaf</dc:creator>
  <dc:description/>
  <cp:lastModifiedBy>Anton Romanov</cp:lastModifiedBy>
  <cp:revision>178</cp:revision>
  <dcterms:created xsi:type="dcterms:W3CDTF">2019-09-16T12:04:13Z</dcterms:created>
  <dcterms:modified xsi:type="dcterms:W3CDTF">2022-10-18T11:42:37Z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