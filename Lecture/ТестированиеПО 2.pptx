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49"/>
  </p:notesMasterIdLst>
  <p:handoutMasterIdLst>
    <p:handoutMasterId r:id="rId50"/>
  </p:handoutMasterIdLst>
  <p:sldIdLst>
    <p:sldId id="256" r:id="rId3"/>
    <p:sldId id="257" r:id="rId4"/>
    <p:sldId id="258" r:id="rId5"/>
    <p:sldId id="259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273" r:id="rId47"/>
    <p:sldId id="260" r:id="rId48"/>
  </p:sldIdLst>
  <p:sldSz cx="10691813" cy="7559675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67">
          <p15:clr>
            <a:srgbClr val="A4A3A4"/>
          </p15:clr>
        </p15:guide>
        <p15:guide id="2" pos="238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0" autoAdjust="0"/>
    <p:restoredTop sz="94660"/>
  </p:normalViewPr>
  <p:slideViewPr>
    <p:cSldViewPr snapToGrid="0">
      <p:cViewPr varScale="1">
        <p:scale>
          <a:sx n="75" d="100"/>
          <a:sy n="75" d="100"/>
        </p:scale>
        <p:origin x="1118" y="67"/>
      </p:cViewPr>
      <p:guideLst>
        <p:guide orient="horz" pos="2381"/>
        <p:guide pos="336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3259" y="-91"/>
      </p:cViewPr>
      <p:guideLst>
        <p:guide orient="horz" pos="3367"/>
        <p:guide pos="238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838A3-E109-4F1D-9FCC-EF09B935682D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2A091-47E7-4B68-B6F0-E4FEA3D8F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697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52000-7BA7-4E98-9AAA-4FCE25FD58C5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44563" y="801688"/>
            <a:ext cx="5670550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1EDE4-ECEF-4344-A377-B4F7BE165A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8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76da035a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76da035a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76da035a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76da035a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76da035a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76da035a2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76da035a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76da035a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76da035a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76da035a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76da035a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76da035a2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76da035a2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76da035a2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76da035a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76da035a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76da035a2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76da035a2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76da035a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76da035a2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76da035a2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76da035a2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76da035a2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76da035a2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76da035a2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76da035a2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76da035a2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76da035a2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76da035a2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76da035a2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76da035a2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76da035a2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76da035a2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76da035a2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76da035a2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76da035a2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76da035a2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76da035a2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76da035a2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76da035a2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76da035a2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76da035a2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76da035a2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76da035a2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76da035a2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76da035a2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76da035a2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76da035a2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76da035a2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76da035a2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76da035a2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76da035a2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76da035a2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76da035a2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76da035a2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76da035a2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76da035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76da035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76da035a2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76da035a2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76da035a2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76da035a2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76da035a2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76da035a2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76da035a2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76da035a2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76da035a2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76da035a2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76da035a2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76da035a2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76da035a2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76da035a2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76da035a2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76da035a2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76da035a2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76da035a2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76da035a2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76da035a2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76da035a2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76da035a2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76da035a2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76da035a2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76da035a2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76da035a2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76da035a2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76da035a2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01720" y="1237320"/>
            <a:ext cx="9087840" cy="12199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78756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041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34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78756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041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64462" y="654077"/>
            <a:ext cx="9962890" cy="8416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64462" y="1693854"/>
            <a:ext cx="9962890" cy="50212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03972" lvl="0" indent="-377979" algn="just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marL="1007943" lvl="1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marL="1511915" lvl="2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marL="2015886" lvl="3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marL="2519858" lvl="4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marL="3023829" lvl="5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marL="3527801" lvl="6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7pPr>
            <a:lvl8pPr marL="4031772" lvl="7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8pPr>
            <a:lvl9pPr marL="4535744" lvl="8" indent="-349980" algn="just">
              <a:spcBef>
                <a:spcPts val="1764"/>
              </a:spcBef>
              <a:spcAft>
                <a:spcPts val="1764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906598" y="6853777"/>
            <a:ext cx="641579" cy="5783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ru" smtClean="0"/>
              <a:pPr algn="r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1643823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01720" y="1237320"/>
            <a:ext cx="9087840" cy="12199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78756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041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534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78756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041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6619" b="0" strike="noStrike" spc="-1">
                <a:solidFill>
                  <a:srgbClr val="000000"/>
                </a:solidFill>
                <a:latin typeface="Geometria  bold"/>
              </a:rPr>
              <a:t>Образец заголовка</a:t>
            </a:r>
            <a:endParaRPr lang="en-US" sz="6619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73512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7095A16-4C3A-49BC-BA45-ED63D8DC7979}" type="datetime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18.10.2022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541680" y="7006680"/>
            <a:ext cx="360828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755100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C19D91D-1076-4D88-80F8-03FFDA14860F}" type="slidenum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‹#›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90" b="0" strike="noStrike" spc="-1">
                <a:solidFill>
                  <a:srgbClr val="000000"/>
                </a:solidFill>
                <a:latin typeface="Geometria light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10" b="0" strike="noStrike" spc="-1">
                <a:solidFill>
                  <a:srgbClr val="000000"/>
                </a:solidFill>
                <a:latin typeface="Geometria light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35120" y="402480"/>
            <a:ext cx="9221400" cy="14608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4850" b="0" strike="noStrike" spc="-1">
                <a:solidFill>
                  <a:srgbClr val="000000"/>
                </a:solidFill>
                <a:latin typeface="Geometria  bold"/>
              </a:rPr>
              <a:t>Образец заголовка</a:t>
            </a:r>
            <a:endParaRPr lang="en-US" sz="485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35120" y="2012400"/>
            <a:ext cx="9221400" cy="479628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52000" indent="-251640">
              <a:lnSpc>
                <a:spcPct val="90000"/>
              </a:lnSpc>
              <a:spcBef>
                <a:spcPts val="1103"/>
              </a:spcBef>
              <a:buClr>
                <a:srgbClr val="000000"/>
              </a:buClr>
              <a:buFont typeface="Arial"/>
              <a:buChar char="•"/>
            </a:pPr>
            <a:r>
              <a:rPr lang="ru-RU" sz="3090" b="0" strike="noStrike" spc="-1">
                <a:solidFill>
                  <a:srgbClr val="000000"/>
                </a:solidFill>
                <a:latin typeface="Geometria light"/>
              </a:rPr>
              <a:t>Образец текста</a:t>
            </a:r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  <a:p>
            <a:pPr marL="756000" lvl="1" indent="-25164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</a:pPr>
            <a:r>
              <a:rPr lang="ru-RU" sz="2650" b="0" strike="noStrike" spc="-1">
                <a:solidFill>
                  <a:srgbClr val="000000"/>
                </a:solidFill>
                <a:latin typeface="Geometria light"/>
              </a:rPr>
              <a:t>Второй уровень</a:t>
            </a:r>
            <a:endParaRPr lang="en-US" sz="2650" b="0" strike="noStrike" spc="-1">
              <a:solidFill>
                <a:srgbClr val="000000"/>
              </a:solidFill>
              <a:latin typeface="Geometria light"/>
            </a:endParaRPr>
          </a:p>
          <a:p>
            <a:pPr marL="1260000" lvl="2" indent="-25164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</a:pPr>
            <a:r>
              <a:rPr lang="ru-RU" sz="2210" b="0" strike="noStrike" spc="-1">
                <a:solidFill>
                  <a:srgbClr val="000000"/>
                </a:solidFill>
                <a:latin typeface="Geometria light"/>
              </a:rPr>
              <a:t>Третий уровень</a:t>
            </a:r>
            <a:endParaRPr lang="en-US" sz="2210" b="0" strike="noStrike" spc="-1">
              <a:solidFill>
                <a:srgbClr val="000000"/>
              </a:solidFill>
              <a:latin typeface="Geometria light"/>
            </a:endParaRPr>
          </a:p>
          <a:p>
            <a:pPr marL="1764000" lvl="3" indent="-25164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</a:pPr>
            <a:r>
              <a:rPr lang="ru-RU" sz="1990" b="0" strike="noStrike" spc="-1">
                <a:solidFill>
                  <a:srgbClr val="000000"/>
                </a:solidFill>
                <a:latin typeface="Geometria light"/>
              </a:rPr>
              <a:t>Четвертый уровень</a:t>
            </a:r>
            <a:endParaRPr lang="en-US" sz="1990" b="0" strike="noStrike" spc="-1">
              <a:solidFill>
                <a:srgbClr val="000000"/>
              </a:solidFill>
              <a:latin typeface="Geometria light"/>
            </a:endParaRPr>
          </a:p>
          <a:p>
            <a:pPr marL="2268000" lvl="4" indent="-25164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</a:pPr>
            <a:r>
              <a:rPr lang="ru-RU" sz="1990" b="0" strike="noStrike" spc="-1">
                <a:solidFill>
                  <a:srgbClr val="000000"/>
                </a:solidFill>
                <a:latin typeface="Geometria light"/>
              </a:rPr>
              <a:t>Пятый уровень</a:t>
            </a:r>
            <a:endParaRPr lang="en-US" sz="19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73512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9AB2ED07-E090-41E8-AF69-629F97376972}" type="datetime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18.10.2022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541680" y="7006680"/>
            <a:ext cx="360828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755100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F642AC0A-0186-4B28-A610-0761D33BA00A}" type="slidenum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‹#›</a:t>
            </a:fld>
            <a:endParaRPr lang="en-US" sz="133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004892"/>
                </a:solidFill>
                <a:latin typeface="Montserrat Bold"/>
              </a:rPr>
              <a:t>Тестирование программного обеспечения</a:t>
            </a:r>
            <a:endParaRPr lang="en-US" sz="4800" b="0" strike="noStrike" spc="-1" dirty="0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173277"/>
                </a:solidFill>
                <a:latin typeface="Montserrat"/>
              </a:rPr>
              <a:t>202</a:t>
            </a:r>
            <a:r>
              <a:rPr lang="ru-RU" sz="1600" b="0" strike="noStrike" spc="-1" dirty="0">
                <a:solidFill>
                  <a:srgbClr val="173277"/>
                </a:solidFill>
                <a:latin typeface="Montserrat"/>
              </a:rPr>
              <a:t>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84" name="Рисунок 2"/>
          <p:cNvPicPr/>
          <p:nvPr/>
        </p:nvPicPr>
        <p:blipFill>
          <a:blip r:embed="rId3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85" name="CustomShape 3"/>
          <p:cNvSpPr/>
          <p:nvPr/>
        </p:nvSpPr>
        <p:spPr>
          <a:xfrm>
            <a:off x="581040" y="262404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Виды, уровни, типы тестирования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220719" y="3595172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1. </a:t>
            </a: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УРОВНИ ТЕСТИРОВАНИЯ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sz="2000" dirty="0"/>
              <a:t>В зависимости от степени детальности компонентов подразделяются на:</a:t>
            </a:r>
            <a:endParaRPr sz="2000" dirty="0"/>
          </a:p>
          <a:p>
            <a:pPr>
              <a:lnSpc>
                <a:spcPct val="150000"/>
              </a:lnSpc>
              <a:spcBef>
                <a:spcPts val="1764"/>
              </a:spcBef>
            </a:pPr>
            <a:r>
              <a:rPr lang="ru" sz="2000" dirty="0"/>
              <a:t>компонентное (модульное),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интеграционное,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системное.</a:t>
            </a:r>
            <a:endParaRPr sz="2000" dirty="0"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1.1 КОМПОНЕНТНОЕ ТЕСТИРОВАНИЕ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sz="2000" b="1" dirty="0"/>
              <a:t>Компонентное тестирование</a:t>
            </a:r>
            <a:r>
              <a:rPr lang="ru" sz="2000" dirty="0"/>
              <a:t> - это тестирование программы на уровне отдельно взятых модулей, функций или классов.</a:t>
            </a:r>
            <a:endParaRPr sz="20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2000" b="1" dirty="0"/>
              <a:t>Цель компонентного тестирования</a:t>
            </a:r>
            <a:r>
              <a:rPr lang="ru" sz="2000" dirty="0"/>
              <a:t>: выявление локализованных в модуле ошибок в реализации алгоритмов, а также определение степени готовности системы к переходу на следующий уровень разработки и тестирования.</a:t>
            </a:r>
            <a:endParaRPr sz="2000" dirty="0">
              <a:solidFill>
                <a:srgbClr val="000000"/>
              </a:solidFill>
            </a:endParaRPr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1.1 ПРИМЕР КОМПОНЕНТНОГО ТЕСТИРОВАНИЯ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r="35119"/>
          <a:stretch/>
        </p:blipFill>
        <p:spPr>
          <a:xfrm>
            <a:off x="649715" y="1693844"/>
            <a:ext cx="9392383" cy="387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1.2 ИНТЕГРАЦИОННОЕ ТЕСТИРОВАНИЕ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sz="1800" dirty="0"/>
              <a:t>Цель: Интеграционное тестирование предназначено для проверки связи между компонентами, а также взаимодействия с различными частями системы (операционной системой, оборудованием либо связи между различными системами).</a:t>
            </a:r>
            <a:endParaRPr sz="18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1800" dirty="0"/>
              <a:t>Уровни интеграционного тестирования:</a:t>
            </a:r>
            <a:endParaRPr sz="1800" dirty="0"/>
          </a:p>
          <a:p>
            <a:pPr>
              <a:lnSpc>
                <a:spcPct val="150000"/>
              </a:lnSpc>
              <a:spcBef>
                <a:spcPts val="1764"/>
              </a:spcBef>
            </a:pPr>
            <a:r>
              <a:rPr lang="ru" sz="1800" dirty="0"/>
              <a:t>Компонентный интеграционный уровень (Component Integration testing). Проверяется взаимодействие между компонентами системы после проведения компонентного тестирования.</a:t>
            </a:r>
            <a:endParaRPr sz="1800" dirty="0"/>
          </a:p>
          <a:p>
            <a:pPr>
              <a:lnSpc>
                <a:spcPct val="150000"/>
              </a:lnSpc>
            </a:pPr>
            <a:r>
              <a:rPr lang="ru" sz="1800" dirty="0"/>
              <a:t>Системный интеграционный уровень (System Integration Testing). Проверяется взаимодействие между разными системами после проведения системного тестирования.</a:t>
            </a:r>
            <a:endParaRPr sz="1800" dirty="0">
              <a:solidFill>
                <a:srgbClr val="000000"/>
              </a:solidFill>
            </a:endParaRPr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 sz="1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1.2 ИНТЕГРАЦИОННОЕ ТЕСТИРОВАНИЕ. ПРИМЕР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sz="1800" dirty="0"/>
              <a:t>Имеется три модуля:</a:t>
            </a:r>
            <a:endParaRPr sz="18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1800" dirty="0"/>
              <a:t>Модуль «Логин», Модуль «Почта», Модуль «Удаленные письма».</a:t>
            </a:r>
            <a:endParaRPr sz="18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1800" dirty="0"/>
              <a:t>Проверяем, как работает Модуль Логин с модулем Почта и Модуль Почта с Модулем Удаление почты.</a:t>
            </a:r>
            <a:endParaRPr sz="1800" dirty="0">
              <a:solidFill>
                <a:srgbClr val="000000"/>
              </a:solidFill>
            </a:endParaRPr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 sz="1800" dirty="0">
              <a:solidFill>
                <a:srgbClr val="000000"/>
              </a:solidFill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903" y="4175665"/>
            <a:ext cx="9544007" cy="3025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1.2 ПОДХОДЫ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endParaRPr sz="2000" dirty="0"/>
          </a:p>
          <a:p>
            <a:pPr marL="0" indent="0">
              <a:spcBef>
                <a:spcPts val="1764"/>
              </a:spcBef>
              <a:buNone/>
            </a:pPr>
            <a:endParaRPr sz="2000" dirty="0"/>
          </a:p>
          <a:p>
            <a:pPr marL="0" indent="0">
              <a:spcBef>
                <a:spcPts val="1764"/>
              </a:spcBef>
              <a:buNone/>
            </a:pPr>
            <a:endParaRPr sz="2000" dirty="0"/>
          </a:p>
          <a:p>
            <a:pPr marL="0" indent="0">
              <a:spcBef>
                <a:spcPts val="1764"/>
              </a:spcBef>
              <a:buNone/>
            </a:pPr>
            <a:endParaRPr sz="2000" dirty="0"/>
          </a:p>
          <a:p>
            <a:pPr marL="0" indent="0">
              <a:spcBef>
                <a:spcPts val="1764"/>
              </a:spcBef>
              <a:buNone/>
            </a:pPr>
            <a:endParaRPr sz="20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2000" dirty="0"/>
              <a:t>Все низкоуровневые модули, процедуры или функции собираются воедино и затем тестируются.</a:t>
            </a:r>
            <a:endParaRPr sz="20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2000" dirty="0"/>
              <a:t>После чего собирается следующий уровень модулей для проведения интеграционного тестирования.</a:t>
            </a:r>
            <a:endParaRPr sz="2000" dirty="0">
              <a:solidFill>
                <a:srgbClr val="000000"/>
              </a:solidFill>
            </a:endParaRPr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 sz="2000" dirty="0"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301" y="1378941"/>
            <a:ext cx="6709212" cy="29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1.2 ПОДХОДЫ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sz="18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endParaRPr sz="18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endParaRPr sz="18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endParaRPr sz="18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r>
              <a:rPr lang="ru" sz="1800" dirty="0"/>
              <a:t>Вначале тестируются все высокоуровневые модули, и постепенно один за другим добавляются низкоуровневые. Все модули более низкого уровня симулируются заглушками с аналогичной функциональностью, затем по мере готовности они заменяются реальными активными компонентами.</a:t>
            </a:r>
            <a:endParaRPr sz="1800" dirty="0">
              <a:solidFill>
                <a:srgbClr val="000000"/>
              </a:solidFill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049" y="1383791"/>
            <a:ext cx="6635715" cy="2971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1.2 ПОДХОДЫ</a:t>
            </a:r>
            <a:endParaRPr sz="32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sz="20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endParaRPr sz="20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endParaRPr sz="20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endParaRPr sz="20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r>
              <a:rPr lang="ru" sz="2000" dirty="0"/>
              <a:t>Все или практически все разработанные модули собираются вместе в виде законченной системы или ее основной части, и затем проводится интеграционное тестирование.</a:t>
            </a:r>
            <a:endParaRPr sz="2000" dirty="0">
              <a:solidFill>
                <a:srgbClr val="000000"/>
              </a:solidFill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2362" y="1495805"/>
            <a:ext cx="5407268" cy="289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">
            <a:off x="6080361" y="4041742"/>
            <a:ext cx="262489" cy="325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1.3 СИСТЕМНОЕ ТЕСТИРОВАНИЕ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sz="1800" dirty="0"/>
              <a:t>Основной задачей системного тестирования является проверка как функциональных, так и нефункциональных требований в системе в целом. При этом выявляются дефекты, такие как неверное использование ресурсов системы, не предусмотренные комбинации данных пользовательского уровня, несовместимость с окружением, непредусмотренные сценарии использования, отсутствующая или неверная функциональность, неудобство использования и т.д.</a:t>
            </a:r>
            <a:endParaRPr sz="1800" dirty="0"/>
          </a:p>
          <a:p>
            <a:pPr>
              <a:lnSpc>
                <a:spcPct val="150000"/>
              </a:lnSpc>
              <a:spcBef>
                <a:spcPts val="1764"/>
              </a:spcBef>
            </a:pPr>
            <a:r>
              <a:rPr lang="ru" sz="1800" dirty="0"/>
              <a:t>На базе требований (requirements based)</a:t>
            </a:r>
            <a:endParaRPr sz="1800" dirty="0"/>
          </a:p>
          <a:p>
            <a:pPr>
              <a:lnSpc>
                <a:spcPct val="150000"/>
              </a:lnSpc>
            </a:pPr>
            <a:r>
              <a:rPr lang="ru" sz="1800" dirty="0"/>
              <a:t>На базе вариантов использования (use case based)</a:t>
            </a:r>
            <a:endParaRPr sz="1800" dirty="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endParaRPr sz="1800" dirty="0">
              <a:solidFill>
                <a:srgbClr val="00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1.3 СИСТЕМНОЕ ТЕСТИРОВАНИЕ. ПРИМЕРЫ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sz="1600" dirty="0"/>
              <a:t>На базе требований (requirements based) </a:t>
            </a:r>
            <a:endParaRPr sz="16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1600" b="1" dirty="0"/>
              <a:t>Исходные данные:</a:t>
            </a:r>
            <a:r>
              <a:rPr lang="ru" sz="1600" dirty="0"/>
              <a:t> Требование: На форме «Список пользователей», имеется кнопка «Новый пользователь». При нажатии на которую открывается окно «Новый пользователь». </a:t>
            </a:r>
            <a:endParaRPr sz="16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1600" dirty="0"/>
              <a:t>Форма содержит поля: </a:t>
            </a:r>
            <a:endParaRPr sz="16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1600" dirty="0"/>
              <a:t>- ФИО. </a:t>
            </a:r>
            <a:endParaRPr sz="16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1600" dirty="0"/>
              <a:t>- Логин/пароль/подтверждение пароля. </a:t>
            </a:r>
            <a:endParaRPr sz="16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1600" dirty="0"/>
              <a:t>- E-mail </a:t>
            </a:r>
            <a:endParaRPr sz="16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r>
              <a:rPr lang="ru" sz="1600" b="1" dirty="0"/>
              <a:t> Результат:</a:t>
            </a:r>
            <a:r>
              <a:rPr lang="ru" sz="1600" dirty="0"/>
              <a:t> создаются тест-кейсы</a:t>
            </a:r>
            <a:endParaRPr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1.3 СИСТЕМНОЕ ТЕСТИРОВАНИЕ. ПРИМЕРЫ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sz="1800" dirty="0"/>
              <a:t>На базе вариантов использования (use case based)</a:t>
            </a:r>
            <a:endParaRPr sz="18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1800" b="1" dirty="0"/>
              <a:t>Исходные данные:</a:t>
            </a:r>
            <a:endParaRPr sz="1800" b="1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1800" dirty="0"/>
              <a:t>Начало работы в системе:</a:t>
            </a:r>
            <a:endParaRPr sz="18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1800" dirty="0"/>
              <a:t>Администратор заводит новых пользователей, указав необходимые данные и определив уровень доступа к системе. Система делает проверку на уникальность логина и пароля и создает запись. Если логин не уникален, система выдает сообщение и предлагает либо изменить логин, либо отменить создание пользователя.</a:t>
            </a:r>
            <a:endParaRPr sz="18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1800" b="1" dirty="0"/>
              <a:t>Результат: </a:t>
            </a:r>
            <a:r>
              <a:rPr lang="ru" sz="1800" dirty="0"/>
              <a:t>Создаются варианты использования, затем создаются тест-кейсы.</a:t>
            </a:r>
            <a:endParaRPr sz="1800" dirty="0">
              <a:solidFill>
                <a:srgbClr val="000000"/>
              </a:solidFill>
            </a:endParaRPr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 sz="1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2. ТИПЫ ТЕСТИРОВАНИЯ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/>
              <a:t>Подразделяются на:</a:t>
            </a:r>
            <a:endParaRPr/>
          </a:p>
          <a:p>
            <a:pPr>
              <a:lnSpc>
                <a:spcPct val="150000"/>
              </a:lnSpc>
              <a:spcBef>
                <a:spcPts val="1764"/>
              </a:spcBef>
            </a:pPr>
            <a:r>
              <a:rPr lang="ru"/>
              <a:t>Функциональное</a:t>
            </a:r>
            <a:endParaRPr/>
          </a:p>
          <a:p>
            <a:pPr>
              <a:lnSpc>
                <a:spcPct val="150000"/>
              </a:lnSpc>
            </a:pPr>
            <a:r>
              <a:rPr lang="ru"/>
              <a:t>Нефункциональное.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2.1 ФУНКЦИОНАЛЬНОЕ ТЕСТИРОВАНИЕ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39" name="Google Shape;139;p2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dirty="0"/>
              <a:t>Функции, которые описывают, </a:t>
            </a:r>
            <a:r>
              <a:rPr lang="ru" b="1" dirty="0"/>
              <a:t>«что»</a:t>
            </a:r>
            <a:r>
              <a:rPr lang="ru" dirty="0"/>
              <a:t> система делает:</a:t>
            </a:r>
            <a:endParaRPr dirty="0"/>
          </a:p>
          <a:p>
            <a:pPr>
              <a:lnSpc>
                <a:spcPct val="150000"/>
              </a:lnSpc>
              <a:spcBef>
                <a:spcPts val="1764"/>
              </a:spcBef>
            </a:pPr>
            <a:r>
              <a:rPr lang="ru" dirty="0"/>
              <a:t>функциональное тестирование;</a:t>
            </a:r>
            <a:endParaRPr dirty="0"/>
          </a:p>
          <a:p>
            <a:pPr>
              <a:lnSpc>
                <a:spcPct val="150000"/>
              </a:lnSpc>
            </a:pPr>
            <a:r>
              <a:rPr lang="ru" dirty="0"/>
              <a:t>тестирование возможности взаимодействия (включает тестирование совместимости и интеграционное тестирование);</a:t>
            </a:r>
            <a:endParaRPr dirty="0"/>
          </a:p>
          <a:p>
            <a:pPr>
              <a:lnSpc>
                <a:spcPct val="150000"/>
              </a:lnSpc>
            </a:pPr>
            <a:r>
              <a:rPr lang="ru" dirty="0"/>
              <a:t>тестирование безопасности.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2.2 НЕФУНКЦИОНАЛЬНОЕ ТЕСТИРОВАНИЕ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ru" sz="2000" dirty="0"/>
              <a:t>Тестирование того, </a:t>
            </a:r>
            <a:r>
              <a:rPr lang="ru" sz="2000" b="1" dirty="0"/>
              <a:t>«как»</a:t>
            </a:r>
            <a:r>
              <a:rPr lang="ru" sz="2000" dirty="0"/>
              <a:t> система работает. К данному типу тестирования можно отнести следующие виды:</a:t>
            </a:r>
            <a:endParaRPr sz="2000" dirty="0"/>
          </a:p>
          <a:p>
            <a:pPr>
              <a:lnSpc>
                <a:spcPct val="115000"/>
              </a:lnSpc>
              <a:spcBef>
                <a:spcPts val="1764"/>
              </a:spcBef>
            </a:pPr>
            <a:r>
              <a:rPr lang="ru" sz="2000" dirty="0"/>
              <a:t>нагрузочное тестирование;</a:t>
            </a:r>
            <a:endParaRPr sz="2000" dirty="0"/>
          </a:p>
          <a:p>
            <a:pPr>
              <a:lnSpc>
                <a:spcPct val="115000"/>
              </a:lnSpc>
            </a:pPr>
            <a:r>
              <a:rPr lang="ru" sz="2000" dirty="0"/>
              <a:t>стресс тестирование;</a:t>
            </a:r>
            <a:endParaRPr sz="2000" dirty="0"/>
          </a:p>
          <a:p>
            <a:pPr>
              <a:lnSpc>
                <a:spcPct val="115000"/>
              </a:lnSpc>
            </a:pPr>
            <a:r>
              <a:rPr lang="ru" sz="2000" dirty="0"/>
              <a:t>тестирование удобства пользования;</a:t>
            </a:r>
            <a:endParaRPr sz="2000" dirty="0"/>
          </a:p>
          <a:p>
            <a:pPr>
              <a:lnSpc>
                <a:spcPct val="115000"/>
              </a:lnSpc>
            </a:pPr>
            <a:r>
              <a:rPr lang="ru" sz="2000" dirty="0"/>
              <a:t>тестирование надежности и т.д.</a:t>
            </a:r>
            <a:endParaRPr sz="2000" dirty="0"/>
          </a:p>
          <a:p>
            <a:pPr marL="0" indent="0">
              <a:lnSpc>
                <a:spcPct val="115000"/>
              </a:lnSpc>
              <a:spcBef>
                <a:spcPts val="1764"/>
              </a:spcBef>
              <a:buNone/>
            </a:pPr>
            <a:r>
              <a:rPr lang="ru" sz="2000" dirty="0"/>
              <a:t>Например: </a:t>
            </a:r>
            <a:endParaRPr sz="2000" dirty="0"/>
          </a:p>
          <a:p>
            <a:pPr>
              <a:lnSpc>
                <a:spcPct val="115000"/>
              </a:lnSpc>
              <a:spcBef>
                <a:spcPts val="1764"/>
              </a:spcBef>
            </a:pPr>
            <a:r>
              <a:rPr lang="ru" sz="2000" dirty="0"/>
              <a:t>общее исследование поведения системы при экстремальных нагрузках; </a:t>
            </a:r>
            <a:endParaRPr sz="2000" dirty="0"/>
          </a:p>
          <a:p>
            <a:pPr>
              <a:lnSpc>
                <a:spcPct val="115000"/>
              </a:lnSpc>
            </a:pPr>
            <a:r>
              <a:rPr lang="ru" sz="2000" dirty="0"/>
              <a:t>экспертиза обработки ошибок и исключений;</a:t>
            </a:r>
            <a:endParaRPr sz="2000" dirty="0"/>
          </a:p>
          <a:p>
            <a:pPr>
              <a:lnSpc>
                <a:spcPct val="115000"/>
              </a:lnSpc>
            </a:pPr>
            <a:r>
              <a:rPr lang="ru" sz="2000" dirty="0"/>
              <a:t>тестирование пропускной способности системы;</a:t>
            </a:r>
            <a:endParaRPr sz="2000" dirty="0"/>
          </a:p>
          <a:p>
            <a:pPr>
              <a:lnSpc>
                <a:spcPct val="115000"/>
              </a:lnSpc>
            </a:pPr>
            <a:r>
              <a:rPr lang="ru" sz="2000" dirty="0"/>
              <a:t>изучение некоторых частей системы или ее компонентов в условиях непропорциональной нагрузки.</a:t>
            </a:r>
            <a:endParaRPr sz="2000" dirty="0">
              <a:solidFill>
                <a:srgbClr val="000000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764"/>
              </a:spcBef>
              <a:spcAft>
                <a:spcPts val="1764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3. МЕТОДЫ ТЕСТИРОВАНИЯ</a:t>
            </a:r>
            <a:endParaRPr sz="32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51" name="Google Shape;151;p28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/>
              <a:t>В зависимости от объекта тестирования:</a:t>
            </a:r>
            <a:endParaRPr/>
          </a:p>
          <a:p>
            <a:pPr>
              <a:lnSpc>
                <a:spcPct val="150000"/>
              </a:lnSpc>
              <a:spcBef>
                <a:spcPts val="1764"/>
              </a:spcBef>
            </a:pPr>
            <a:r>
              <a:rPr lang="ru"/>
              <a:t>статический,</a:t>
            </a:r>
            <a:endParaRPr/>
          </a:p>
          <a:p>
            <a:pPr>
              <a:lnSpc>
                <a:spcPct val="150000"/>
              </a:lnSpc>
            </a:pPr>
            <a:r>
              <a:rPr lang="ru"/>
              <a:t>динамический.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3.1 СТАТИЧЕСКИЙ МЕТОД. РЕЦЕНЗИРОВАНИЕ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57" name="Google Shape;157;p29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 sz="2000" b="1" dirty="0"/>
              <a:t>Рецензирование </a:t>
            </a:r>
            <a:endParaRPr sz="2000" b="1" dirty="0"/>
          </a:p>
          <a:p>
            <a:pPr marL="0" indent="0"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 sz="2000" dirty="0"/>
              <a:t>Вид тестирования ПО (включая код), который может проводиться перед динамическим тестированием.</a:t>
            </a:r>
            <a:endParaRPr sz="2000" dirty="0"/>
          </a:p>
          <a:p>
            <a:pPr marL="0" indent="0">
              <a:spcBef>
                <a:spcPts val="1764"/>
              </a:spcBef>
              <a:buNone/>
            </a:pPr>
            <a:r>
              <a:rPr lang="ru" sz="2000" dirty="0"/>
              <a:t>Как проводится:</a:t>
            </a:r>
            <a:endParaRPr sz="2000" dirty="0"/>
          </a:p>
          <a:p>
            <a:pPr>
              <a:spcBef>
                <a:spcPts val="1764"/>
              </a:spcBef>
            </a:pPr>
            <a:r>
              <a:rPr lang="ru" sz="2000" dirty="0"/>
              <a:t>вручную,</a:t>
            </a:r>
            <a:endParaRPr sz="2000" dirty="0"/>
          </a:p>
          <a:p>
            <a:r>
              <a:rPr lang="ru" sz="2000" dirty="0"/>
              <a:t>с применением анализаторов кода. </a:t>
            </a:r>
            <a:endParaRPr sz="2000" dirty="0"/>
          </a:p>
          <a:p>
            <a:pPr marL="0" indent="0"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 sz="2000" dirty="0"/>
              <a:t>Рецензирование может проводится для любого продукта, связанного с разработкой ПО, включая спецификации требований и дизайна, код, планы тестирования, руководства пользования и т.п. Во время рецензирования могут быть найдены упущения, например в требованиях, которые маловероятно найти во время динамического тестирования.</a:t>
            </a:r>
            <a:endParaRPr sz="2000" dirty="0">
              <a:solidFill>
                <a:srgbClr val="000000"/>
              </a:solidFill>
            </a:endParaRPr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3.1 СТАТИЧЕСКИЙ МЕТОД. РЕЦЕНЗИРОВАНИЕ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  <a:p>
            <a:pPr>
              <a:lnSpc>
                <a:spcPct val="100000"/>
              </a:lnSpc>
            </a:pP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63" name="Google Shape;163;p30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64" name="Google Shape;16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714" y="1609600"/>
            <a:ext cx="9293808" cy="4233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3.1 СТАТИЧЕСКИЙ МЕТОД. СТАТИЧЕСКИЙ АНАЛИЗ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"/>
              <a:t>Статический анализ Исследование ПО с помощью специального инструмента без его запуска. Анализируется:</a:t>
            </a:r>
            <a:endParaRPr/>
          </a:p>
          <a:p>
            <a:pPr>
              <a:spcBef>
                <a:spcPts val="1764"/>
              </a:spcBef>
            </a:pPr>
            <a:r>
              <a:rPr lang="ru"/>
              <a:t>код программы (например, потоки управления и поток данных),</a:t>
            </a:r>
            <a:endParaRPr/>
          </a:p>
          <a:p>
            <a:r>
              <a:rPr lang="ru"/>
              <a:t>сгенерированный код, например HTML, XML.</a:t>
            </a:r>
            <a:endParaRPr>
              <a:solidFill>
                <a:srgbClr val="000000"/>
              </a:solidFill>
            </a:endParaRPr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2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3.1 СТАТИЧЕСКИЙ МЕТОД. СТАТИЧЕСКИЙ АНАЛИЗ</a:t>
            </a:r>
            <a:endParaRPr sz="32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76" name="Google Shape;176;p32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r>
              <a:rPr lang="ru" dirty="0"/>
              <a:t>Пример анализа html-разметки</a:t>
            </a:r>
            <a:endParaRPr dirty="0">
              <a:solidFill>
                <a:srgbClr val="000000"/>
              </a:solidFill>
            </a:endParaRPr>
          </a:p>
        </p:txBody>
      </p:sp>
      <p:pic>
        <p:nvPicPr>
          <p:cNvPr id="177" name="Google Shape;17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448" y="2418772"/>
            <a:ext cx="6631800" cy="3855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3.2 ДИНАМИЧЕСКИЕ МЕТОДЫ</a:t>
            </a:r>
            <a:endParaRPr sz="36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83" name="Google Shape;183;p33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ru" sz="2000" b="1" dirty="0"/>
              <a:t>Методы белого ящика</a:t>
            </a:r>
            <a:r>
              <a:rPr lang="ru" sz="2000" dirty="0"/>
              <a:t> (white/glass box testing) Тестирование на соответствие программного продукта требованиям со знанием внутренней структуры реализации системы (есть в наличии исходный код и технические спецификации). Это вид тестирования позволяет проводить локализацию ошибок, анализ надежности и устойчивости и другие типы проверок, существенно повышая качество системы. </a:t>
            </a:r>
            <a:endParaRPr sz="2000" dirty="0"/>
          </a:p>
          <a:p>
            <a:pPr marL="0" indent="0">
              <a:lnSpc>
                <a:spcPct val="115000"/>
              </a:lnSpc>
              <a:spcBef>
                <a:spcPts val="1764"/>
              </a:spcBef>
              <a:buNone/>
            </a:pPr>
            <a:r>
              <a:rPr lang="ru" sz="2000" b="1" dirty="0"/>
              <a:t>Методы черного ящика</a:t>
            </a:r>
            <a:r>
              <a:rPr lang="ru" sz="2000" dirty="0"/>
              <a:t> (black box testing) Тестирование на соответствие программного продукта требованиям без знания внутренней структуры реализации системы. </a:t>
            </a:r>
            <a:endParaRPr sz="2000" dirty="0"/>
          </a:p>
          <a:p>
            <a:pPr marL="0" indent="0">
              <a:lnSpc>
                <a:spcPct val="115000"/>
              </a:lnSpc>
              <a:spcBef>
                <a:spcPts val="1764"/>
              </a:spcBef>
              <a:spcAft>
                <a:spcPts val="1764"/>
              </a:spcAft>
              <a:buNone/>
            </a:pPr>
            <a:r>
              <a:rPr lang="ru" sz="2000" b="1" dirty="0"/>
              <a:t>Методы серого ящика</a:t>
            </a:r>
            <a:r>
              <a:rPr lang="ru" sz="2000" dirty="0"/>
              <a:t> (grey box testing) Комбинирование методов белого и черного ящика. При тестировании серого ящика разработчик теста имеет доступ к исходному коду, но при непосредственном выполнении тестов доступ к коду, как правило, не требуется.</a:t>
            </a:r>
            <a:endParaRPr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3.2 ДИНАМИЧЕСКИЕ МЕТОДЫ</a:t>
            </a:r>
            <a:endParaRPr sz="36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  <a:p>
            <a:pPr>
              <a:lnSpc>
                <a:spcPct val="100000"/>
              </a:lnSpc>
            </a:pPr>
            <a:endParaRPr sz="36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89" name="Google Shape;189;p3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90" name="Google Shape;19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994" y="1952916"/>
            <a:ext cx="4073825" cy="2740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 ВИДЫ ТЕСТИРОВАНИЯ</a:t>
            </a:r>
            <a:endParaRPr sz="36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96" name="Google Shape;196;p3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ru"/>
              <a:t>По объекту тестирования;</a:t>
            </a:r>
            <a:endParaRPr/>
          </a:p>
          <a:p>
            <a:pPr>
              <a:lnSpc>
                <a:spcPct val="150000"/>
              </a:lnSpc>
            </a:pPr>
            <a:r>
              <a:rPr lang="ru"/>
              <a:t>По субъекту тестирования;</a:t>
            </a:r>
            <a:endParaRPr/>
          </a:p>
          <a:p>
            <a:pPr>
              <a:lnSpc>
                <a:spcPct val="150000"/>
              </a:lnSpc>
            </a:pPr>
            <a:r>
              <a:rPr lang="ru"/>
              <a:t>По степени автоматизации;</a:t>
            </a:r>
            <a:endParaRPr/>
          </a:p>
          <a:p>
            <a:pPr>
              <a:lnSpc>
                <a:spcPct val="150000"/>
              </a:lnSpc>
            </a:pPr>
            <a:r>
              <a:rPr lang="ru"/>
              <a:t>По признаку позитивности;</a:t>
            </a:r>
            <a:endParaRPr/>
          </a:p>
          <a:p>
            <a:pPr>
              <a:lnSpc>
                <a:spcPct val="150000"/>
              </a:lnSpc>
            </a:pPr>
            <a:r>
              <a:rPr lang="ru"/>
              <a:t>По времени проведения.</a:t>
            </a:r>
            <a:endParaRPr/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4.1 ПО ОБЪЕКТУ ТЕСТИРОВАНИЯ</a:t>
            </a:r>
            <a:endParaRPr sz="36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02" name="Google Shape;202;p3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Функциональное,</a:t>
            </a:r>
            <a:endParaRPr/>
          </a:p>
          <a:p>
            <a:r>
              <a:rPr lang="ru"/>
              <a:t>Навигация,</a:t>
            </a:r>
            <a:endParaRPr/>
          </a:p>
          <a:p>
            <a:r>
              <a:rPr lang="ru"/>
              <a:t>Инсталляция,</a:t>
            </a:r>
            <a:endParaRPr/>
          </a:p>
          <a:p>
            <a:r>
              <a:rPr lang="ru"/>
              <a:t>Нагрузочное,</a:t>
            </a:r>
            <a:endParaRPr/>
          </a:p>
          <a:p>
            <a:r>
              <a:rPr lang="ru"/>
              <a:t>Юзабилити,</a:t>
            </a:r>
            <a:endParaRPr/>
          </a:p>
          <a:p>
            <a:r>
              <a:rPr lang="ru"/>
              <a:t>UI/GUI</a:t>
            </a:r>
            <a:endParaRPr/>
          </a:p>
          <a:p>
            <a:r>
              <a:rPr lang="ru"/>
              <a:t>Локализация,</a:t>
            </a:r>
            <a:endParaRPr/>
          </a:p>
          <a:p>
            <a:r>
              <a:rPr lang="ru"/>
              <a:t>Безопасность,</a:t>
            </a:r>
            <a:endParaRPr/>
          </a:p>
          <a:p>
            <a:r>
              <a:rPr lang="ru"/>
              <a:t>Совместимость,</a:t>
            </a:r>
            <a:endParaRPr/>
          </a:p>
          <a:p>
            <a:r>
              <a:rPr lang="ru"/>
              <a:t>Конфигурация,</a:t>
            </a:r>
            <a:endParaRPr/>
          </a:p>
          <a:p>
            <a:r>
              <a:rPr lang="ru"/>
              <a:t>Документация,</a:t>
            </a:r>
            <a:endParaRPr/>
          </a:p>
          <a:p>
            <a:r>
              <a:rPr lang="ru"/>
              <a:t>Прототип,</a:t>
            </a:r>
            <a:endParaRPr/>
          </a:p>
          <a:p>
            <a:r>
              <a:rPr lang="ru"/>
              <a:t>Доступность.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4.1 ПО ОБЪЕКТУ ТЕСТИРОВАНИЯ</a:t>
            </a:r>
            <a:endParaRPr sz="36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08" name="Google Shape;208;p37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b="1" dirty="0"/>
              <a:t>Функциональное тестирование</a:t>
            </a:r>
            <a:endParaRPr b="1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dirty="0"/>
              <a:t>Проверяется соответствие требованиям. Оценка производится в соответствии с ожидаемыми и полученными результатами (на основании функциональной спецификации), при условии, что функции отрабатывали на различных значениях.</a:t>
            </a:r>
            <a:endParaRPr dirty="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endParaRPr dirty="0">
              <a:solidFill>
                <a:srgbClr val="00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4.1 ПО ОБЪЕКТУ ТЕСТИРОВАНИЯ</a:t>
            </a:r>
            <a:endParaRPr sz="36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14" name="Google Shape;214;p38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sz="1800" b="1" dirty="0"/>
              <a:t>Тестирование навигации </a:t>
            </a:r>
            <a:r>
              <a:rPr lang="ru" sz="1800" dirty="0"/>
              <a:t>Например: Действие кнопки назад браузера для вашего сайта (Нет ли ошибки: 404, 500 и т .д.) </a:t>
            </a:r>
            <a:endParaRPr sz="18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1800" b="1" dirty="0"/>
              <a:t>Тестирование инсталляции</a:t>
            </a:r>
            <a:r>
              <a:rPr lang="ru" sz="1800" dirty="0"/>
              <a:t> Тестирование процедуры установки продукта разделяется на несколько частей:</a:t>
            </a:r>
            <a:endParaRPr sz="1800" dirty="0"/>
          </a:p>
          <a:p>
            <a:pPr>
              <a:lnSpc>
                <a:spcPct val="150000"/>
              </a:lnSpc>
              <a:spcBef>
                <a:spcPts val="1764"/>
              </a:spcBef>
            </a:pPr>
            <a:r>
              <a:rPr lang="ru" sz="1800" dirty="0"/>
              <a:t>Формальное тестирование программы установки (графический интерфейс пользователя, общее удобство пользования, соответствие стандартам); </a:t>
            </a:r>
            <a:endParaRPr sz="1800" dirty="0"/>
          </a:p>
          <a:p>
            <a:pPr>
              <a:lnSpc>
                <a:spcPct val="150000"/>
              </a:lnSpc>
            </a:pPr>
            <a:r>
              <a:rPr lang="ru" sz="1800" dirty="0"/>
              <a:t>Функциональное тестирование программы установки </a:t>
            </a:r>
            <a:endParaRPr sz="1800" dirty="0"/>
          </a:p>
          <a:p>
            <a:pPr>
              <a:lnSpc>
                <a:spcPct val="150000"/>
              </a:lnSpc>
            </a:pPr>
            <a:r>
              <a:rPr lang="ru" sz="1800" dirty="0"/>
              <a:t>Тестирование механизма лицензирования и способности противостоять взлому; </a:t>
            </a:r>
            <a:endParaRPr sz="1800" dirty="0"/>
          </a:p>
          <a:p>
            <a:pPr>
              <a:lnSpc>
                <a:spcPct val="150000"/>
              </a:lnSpc>
            </a:pPr>
            <a:r>
              <a:rPr lang="ru" sz="1800" dirty="0"/>
              <a:t>Проверка стабильности работы приложения после установки.</a:t>
            </a:r>
            <a:endParaRPr sz="1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4.1 ПО ОБЪЕКТУ ТЕСТИРОВАНИЯ</a:t>
            </a:r>
            <a:endParaRPr sz="36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  <a:p>
            <a:pPr>
              <a:lnSpc>
                <a:spcPct val="100000"/>
              </a:lnSpc>
            </a:pPr>
            <a:endParaRPr sz="36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20" name="Google Shape;220;p39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 sz="2400" b="1" dirty="0"/>
              <a:t>Нагрузочное тестирование</a:t>
            </a:r>
            <a:r>
              <a:rPr lang="ru" sz="2400" dirty="0"/>
              <a:t> (Performance and Load Testing)</a:t>
            </a:r>
            <a:endParaRPr sz="2400" dirty="0"/>
          </a:p>
          <a:p>
            <a:pPr>
              <a:spcBef>
                <a:spcPts val="1764"/>
              </a:spcBef>
            </a:pPr>
            <a:r>
              <a:rPr lang="ru" sz="2400" dirty="0"/>
              <a:t>Тесты производительности (Performance Tests)</a:t>
            </a:r>
            <a:endParaRPr sz="2400" dirty="0"/>
          </a:p>
          <a:p>
            <a:r>
              <a:rPr lang="ru" sz="2400" dirty="0"/>
              <a:t>Нагрузочные тесты (Load Tests)</a:t>
            </a:r>
            <a:endParaRPr sz="2400" dirty="0"/>
          </a:p>
          <a:p>
            <a:r>
              <a:rPr lang="ru" sz="2400" dirty="0"/>
              <a:t>Стресс-тесты (Stress Tests)</a:t>
            </a:r>
            <a:endParaRPr sz="2400" dirty="0"/>
          </a:p>
          <a:p>
            <a:r>
              <a:rPr lang="ru" sz="2400" dirty="0"/>
              <a:t>Ресурсные тесты</a:t>
            </a:r>
            <a:endParaRPr sz="2400" dirty="0">
              <a:solidFill>
                <a:srgbClr val="000000"/>
              </a:solidFill>
            </a:endParaRPr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 sz="2400" dirty="0">
              <a:solidFill>
                <a:srgbClr val="000000"/>
              </a:solidFill>
            </a:endParaRPr>
          </a:p>
        </p:txBody>
      </p:sp>
      <p:pic>
        <p:nvPicPr>
          <p:cNvPr id="221" name="Google Shape;2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901" y="3803794"/>
            <a:ext cx="5860181" cy="2816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4.1 ПО ОБЪЕКТУ ТЕСТИРОВАНИЯ</a:t>
            </a:r>
            <a:endParaRPr sz="36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27" name="Google Shape;227;p40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ru" sz="2000" b="1" dirty="0"/>
              <a:t>Тестирование удобства пользования</a:t>
            </a:r>
            <a:r>
              <a:rPr lang="ru" sz="2000" dirty="0"/>
              <a:t> (usability testing)</a:t>
            </a:r>
            <a:endParaRPr sz="20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 sz="2000" dirty="0"/>
              <a:t>Тестирование удобства пользования приложением определяет, соответствует ли приложение потребностям целевой аудитории и отвечает ли оно требованиям пользователя</a:t>
            </a:r>
            <a:r>
              <a:rPr lang="ru" sz="2000" dirty="0">
                <a:solidFill>
                  <a:srgbClr val="000000"/>
                </a:solidFill>
              </a:rPr>
              <a:t>.</a:t>
            </a:r>
            <a:endParaRPr sz="2000" dirty="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endParaRPr sz="2000" dirty="0">
              <a:solidFill>
                <a:srgbClr val="000000"/>
              </a:solidFill>
            </a:endParaRPr>
          </a:p>
        </p:txBody>
      </p:sp>
      <p:pic>
        <p:nvPicPr>
          <p:cNvPr id="228" name="Google Shape;22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193" y="3784927"/>
            <a:ext cx="5060782" cy="2677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4.1 ПО ОБЪЕКТУ ТЕСТИРОВАНИЯ</a:t>
            </a:r>
            <a:endParaRPr sz="36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34" name="Google Shape;234;p41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/>
              <a:t>Тестирование пользовательского интерфейса (UI/GUI)</a:t>
            </a:r>
            <a:endParaRPr/>
          </a:p>
          <a:p>
            <a:pPr>
              <a:spcBef>
                <a:spcPts val="1764"/>
              </a:spcBef>
              <a:buClr>
                <a:srgbClr val="000000"/>
              </a:buClr>
            </a:pPr>
            <a:r>
              <a:rPr lang="ru"/>
              <a:t>Тестирование на соответствие стандартам графических интерфейсов; </a:t>
            </a:r>
            <a:endParaRPr/>
          </a:p>
          <a:p>
            <a:pPr>
              <a:buClr>
                <a:srgbClr val="000000"/>
              </a:buClr>
            </a:pPr>
            <a:r>
              <a:rPr lang="ru"/>
              <a:t>Тестирование с различными разрешениями экрана; </a:t>
            </a:r>
            <a:endParaRPr/>
          </a:p>
          <a:p>
            <a:pPr>
              <a:buClr>
                <a:srgbClr val="000000"/>
              </a:buClr>
            </a:pPr>
            <a:r>
              <a:rPr lang="ru"/>
              <a:t>Тестирование в ограниченных условиях, например, в условиях нехватки памяти; </a:t>
            </a:r>
            <a:endParaRPr/>
          </a:p>
          <a:p>
            <a:pPr>
              <a:buClr>
                <a:srgbClr val="000000"/>
              </a:buClr>
            </a:pPr>
            <a:r>
              <a:rPr lang="ru"/>
              <a:t>Тестирование локализованных версий: точность перевода, проверка длины названий элементов интерфейса и т.д.; </a:t>
            </a:r>
            <a:endParaRPr/>
          </a:p>
          <a:p>
            <a:pPr>
              <a:buClr>
                <a:srgbClr val="000000"/>
              </a:buClr>
            </a:pPr>
            <a:r>
              <a:rPr lang="ru"/>
              <a:t>Тестирование графического интерфейса пользователя на целевых устройствах (для КПК-совместимых приложений).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2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4.1 ПО ОБЪЕКТУ ТЕСТИРОВАНИЯ</a:t>
            </a:r>
            <a:endParaRPr sz="36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40" name="Google Shape;240;p42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b="1"/>
              <a:t>Тестирование локализации</a:t>
            </a:r>
            <a:r>
              <a:rPr lang="ru"/>
              <a:t> (localization) Например: </a:t>
            </a:r>
            <a:endParaRPr/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/>
              <a:t>Проверка правильности перевода согласно тематике данного сайта или программы.</a:t>
            </a:r>
            <a:endParaRPr/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/>
              <a:t>Проверка перевода раздела «Помощь» и сопроводительной документации.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spcAft>
                <a:spcPts val="1764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4.1 ПО ОБЪЕКТУ ТЕСТИРОВАНИЯ</a:t>
            </a:r>
            <a:endParaRPr sz="36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46" name="Google Shape;246;p43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sz="2000" b="1" dirty="0"/>
              <a:t>Тестирование безопасности</a:t>
            </a:r>
            <a:r>
              <a:rPr lang="ru" sz="2000" dirty="0"/>
              <a:t> (security testing) </a:t>
            </a:r>
            <a:endParaRPr sz="2000" dirty="0"/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dirty="0"/>
              <a:t>Тестирование безопасности представляет собой ряд услуг, от разработки политики безопасности до тестирования безопасности на уровне приложения, операционной системы и сетевой безопасности. </a:t>
            </a:r>
            <a:endParaRPr sz="2000" dirty="0"/>
          </a:p>
          <a:p>
            <a:pPr marL="0" indent="0">
              <a:lnSpc>
                <a:spcPct val="150000"/>
              </a:lnSpc>
              <a:buNone/>
            </a:pPr>
            <a:r>
              <a:rPr lang="ru" sz="2000" b="1" dirty="0"/>
              <a:t>Тестирование совместимости</a:t>
            </a:r>
            <a:r>
              <a:rPr lang="ru" sz="2000" dirty="0"/>
              <a:t> (compatibility testing)</a:t>
            </a:r>
            <a:endParaRPr sz="2000" dirty="0"/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dirty="0"/>
              <a:t>Браузеры,</a:t>
            </a:r>
            <a:endParaRPr sz="2000" dirty="0"/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dirty="0"/>
              <a:t>ОС.</a:t>
            </a:r>
            <a:endParaRPr sz="2000" dirty="0">
              <a:solidFill>
                <a:srgbClr val="000000"/>
              </a:solidFill>
            </a:endParaRPr>
          </a:p>
          <a:p>
            <a:pPr marL="0" indent="0">
              <a:spcAft>
                <a:spcPts val="1764"/>
              </a:spcAft>
              <a:buNone/>
            </a:pPr>
            <a:endParaRPr sz="2000" dirty="0">
              <a:solidFill>
                <a:srgbClr val="000000"/>
              </a:solidFill>
            </a:endParaRPr>
          </a:p>
        </p:txBody>
      </p:sp>
      <p:pic>
        <p:nvPicPr>
          <p:cNvPr id="247" name="Google Shape;24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252" y="4810501"/>
            <a:ext cx="4401845" cy="2061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4.1 ПО ОБЪЕКТУ ТЕСТИРОВАНИЯ</a:t>
            </a:r>
            <a:endParaRPr sz="36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53" name="Google Shape;253;p4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b="1"/>
              <a:t>Конфигурационное тестирование</a:t>
            </a:r>
            <a:r>
              <a:rPr lang="ru"/>
              <a:t> (configuration)</a:t>
            </a:r>
            <a:endParaRPr/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/>
              <a:t>заявленные платформы, различные конфигурации,</a:t>
            </a:r>
            <a:endParaRPr/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/>
              <a:t>поддерживаемые драйверы,</a:t>
            </a:r>
            <a:endParaRPr/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/>
              <a:t>и т.д.</a:t>
            </a:r>
            <a:endParaRPr>
              <a:solidFill>
                <a:srgbClr val="000000"/>
              </a:solidFill>
            </a:endParaRPr>
          </a:p>
          <a:p>
            <a:pPr marL="0" indent="0">
              <a:spcAft>
                <a:spcPts val="1764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pic>
        <p:nvPicPr>
          <p:cNvPr id="254" name="Google Shape;25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4344" y="3254253"/>
            <a:ext cx="4514806" cy="3065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4.1 ПО ОБЪЕКТУ ТЕСТИРОВАНИЯ.</a:t>
            </a:r>
            <a:endParaRPr sz="36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60" name="Google Shape;260;p4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b="1"/>
              <a:t>Тестирование документации</a:t>
            </a:r>
            <a:r>
              <a:rPr lang="ru"/>
              <a:t> (Document testing) </a:t>
            </a:r>
            <a:endParaRPr/>
          </a:p>
          <a:p>
            <a:pPr marL="0" indent="0">
              <a:lnSpc>
                <a:spcPct val="150000"/>
              </a:lnSpc>
              <a:buNone/>
            </a:pPr>
            <a:r>
              <a:rPr lang="ru"/>
              <a:t>На этапе разработки требований к программному продукту после создания функциональных спецификаций. Помогает избежать логических дефектов и ненужных изменений в продукте до начала его фактической разработки. Улучшение пользовательской документации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4.1 ПО ОБЪЕКТУ ТЕСТИРОВАНИЯ</a:t>
            </a:r>
            <a:endParaRPr sz="36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66" name="Google Shape;266;p4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" sz="1800" b="1" dirty="0"/>
              <a:t>Тестирование прототипа</a:t>
            </a:r>
            <a:r>
              <a:rPr lang="ru" sz="1800" dirty="0"/>
              <a:t> (prototype testing)</a:t>
            </a:r>
            <a:endParaRPr sz="1800" dirty="0"/>
          </a:p>
          <a:p>
            <a:pPr marL="0" indent="0"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 sz="1800" dirty="0"/>
              <a:t>Основная цель тестирования прототипа – выявить потенциальные проблемы в приложении, проверить, насколько приложение соответствует потребностям и ожиданиям пользователя и обнаружить расхождения с требованиями к графическому интерфейсу пользователя.</a:t>
            </a:r>
            <a:endParaRPr sz="1800" dirty="0"/>
          </a:p>
          <a:p>
            <a:r>
              <a:rPr lang="ru" sz="1800" dirty="0"/>
              <a:t>Структура приложения;</a:t>
            </a:r>
            <a:endParaRPr sz="1800" dirty="0"/>
          </a:p>
          <a:p>
            <a:r>
              <a:rPr lang="ru" sz="1800" dirty="0"/>
              <a:t>Формы;</a:t>
            </a:r>
            <a:endParaRPr sz="1800" dirty="0"/>
          </a:p>
          <a:p>
            <a:r>
              <a:rPr lang="ru" sz="1800" dirty="0"/>
              <a:t>Прототип бизнес-логики;</a:t>
            </a:r>
            <a:endParaRPr sz="1800" dirty="0"/>
          </a:p>
          <a:p>
            <a:r>
              <a:rPr lang="ru" sz="1800" dirty="0"/>
              <a:t>Логические связи между</a:t>
            </a:r>
            <a:endParaRPr sz="1800" dirty="0"/>
          </a:p>
          <a:p>
            <a:pPr marL="0" indent="0">
              <a:buNone/>
            </a:pPr>
            <a:r>
              <a:rPr lang="ru" sz="1800" dirty="0"/>
              <a:t>модулями;</a:t>
            </a:r>
            <a:endParaRPr sz="1800" dirty="0"/>
          </a:p>
          <a:p>
            <a:r>
              <a:rPr lang="ru" sz="1800" dirty="0"/>
              <a:t>Навигация;</a:t>
            </a:r>
            <a:endParaRPr sz="1800" dirty="0"/>
          </a:p>
          <a:p>
            <a:r>
              <a:rPr lang="ru" sz="1800" dirty="0"/>
              <a:t>Графический интерфейс</a:t>
            </a:r>
            <a:endParaRPr sz="1800" dirty="0"/>
          </a:p>
          <a:p>
            <a:pPr indent="0">
              <a:buNone/>
            </a:pPr>
            <a:r>
              <a:rPr lang="ru" sz="1800" dirty="0"/>
              <a:t>пользователя.</a:t>
            </a:r>
            <a:endParaRPr sz="12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sz="1200" dirty="0">
              <a:solidFill>
                <a:srgbClr val="000000"/>
              </a:solidFill>
            </a:endParaRPr>
          </a:p>
        </p:txBody>
      </p:sp>
      <p:pic>
        <p:nvPicPr>
          <p:cNvPr id="267" name="Google Shape;26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0043" y="4169690"/>
            <a:ext cx="4808793" cy="2435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4.1 ПО ОБЪЕКТУ ТЕСТИРОВАНИЯ</a:t>
            </a:r>
            <a:endParaRPr sz="36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73" name="Google Shape;273;p47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" sz="2400" b="1" dirty="0"/>
              <a:t>Тестирование доступности </a:t>
            </a:r>
            <a:r>
              <a:rPr lang="ru" sz="2400" dirty="0"/>
              <a:t>(accessibility testing)</a:t>
            </a:r>
            <a:endParaRPr sz="2400" dirty="0"/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" sz="2400" dirty="0"/>
              <a:t>Тестирование доступности позволяет определить уровень соответствия приложения accessibility-стандартам.</a:t>
            </a:r>
            <a:endParaRPr sz="2400" dirty="0"/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" sz="2400" dirty="0"/>
              <a:t>Тестирование на соответствие следующим стандартам:</a:t>
            </a:r>
            <a:endParaRPr sz="2400" dirty="0"/>
          </a:p>
          <a:p>
            <a:r>
              <a:rPr lang="ru" sz="2400" dirty="0"/>
              <a:t>раздел 508 Закона США о реабилитации;</a:t>
            </a:r>
            <a:endParaRPr sz="2400" dirty="0"/>
          </a:p>
          <a:p>
            <a:r>
              <a:rPr lang="ru" sz="2400" dirty="0"/>
              <a:t>UK &amp; EU Accessibility Standard.</a:t>
            </a:r>
            <a:endParaRPr sz="2400" dirty="0">
              <a:solidFill>
                <a:srgbClr val="000000"/>
              </a:solidFill>
            </a:endParaRPr>
          </a:p>
          <a:p>
            <a:pPr marL="0" indent="0">
              <a:spcAft>
                <a:spcPts val="1764"/>
              </a:spcAft>
              <a:buNone/>
            </a:pPr>
            <a:endParaRPr sz="2400" dirty="0"/>
          </a:p>
        </p:txBody>
      </p:sp>
      <p:pic>
        <p:nvPicPr>
          <p:cNvPr id="274" name="Google Shape;27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464" y="3917811"/>
            <a:ext cx="4420310" cy="2645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4.2 ПО СУБЪЕКТУ ТЕСТИРОВАНИЯ</a:t>
            </a:r>
            <a:endParaRPr sz="36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80" name="Google Shape;280;p48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ru" sz="2000" b="1" dirty="0"/>
              <a:t>Альфа-тестирование</a:t>
            </a:r>
            <a:r>
              <a:rPr lang="ru" sz="2000" dirty="0"/>
              <a:t> (α-testing)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штатные работники,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потенциальные заказчики на стороне разработчика.</a:t>
            </a:r>
            <a:endParaRPr sz="2000" dirty="0"/>
          </a:p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ru" sz="2000" b="1" dirty="0"/>
              <a:t>Внутреннее приёмочное тестирование</a:t>
            </a:r>
            <a:r>
              <a:rPr lang="ru" sz="2000" dirty="0"/>
              <a:t> для готового продукта с использованием окружения, которое помогает быстро выявить ошибки.</a:t>
            </a:r>
            <a:endParaRPr sz="2000" dirty="0"/>
          </a:p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ru" sz="2000" dirty="0"/>
              <a:t> </a:t>
            </a:r>
            <a:r>
              <a:rPr lang="ru" sz="2000" b="1" dirty="0"/>
              <a:t>Бета-тестирование </a:t>
            </a:r>
            <a:r>
              <a:rPr lang="ru" sz="2000" dirty="0"/>
              <a:t>(β-testing) </a:t>
            </a:r>
            <a:endParaRPr sz="2000" dirty="0"/>
          </a:p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ru" sz="2000" dirty="0"/>
              <a:t>Распространение среди потенциальных пользователей готовой версии продукта с ограничениями (по функциональности или времени работы)</a:t>
            </a:r>
            <a:endParaRPr sz="2000" dirty="0">
              <a:solidFill>
                <a:srgbClr val="000000"/>
              </a:solidFill>
            </a:endParaRPr>
          </a:p>
          <a:p>
            <a:pPr marL="0" indent="0">
              <a:spcAft>
                <a:spcPts val="1764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9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4.3 ПО СТЕПЕНИ АВТОМАТИЗАЦИИ</a:t>
            </a:r>
            <a:endParaRPr sz="36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86" name="Google Shape;286;p49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ru"/>
              <a:t>Ручное тестирование (manual testing)</a:t>
            </a:r>
            <a:endParaRPr/>
          </a:p>
          <a:p>
            <a:pPr>
              <a:lnSpc>
                <a:spcPct val="150000"/>
              </a:lnSpc>
            </a:pPr>
            <a:r>
              <a:rPr lang="ru"/>
              <a:t>Автоматизированное тестирование </a:t>
            </a:r>
            <a:endParaRPr/>
          </a:p>
          <a:p>
            <a:pPr indent="0">
              <a:lnSpc>
                <a:spcPct val="150000"/>
              </a:lnSpc>
              <a:buNone/>
            </a:pPr>
            <a:r>
              <a:rPr lang="ru"/>
              <a:t>(automated testing)</a:t>
            </a:r>
            <a:endParaRPr/>
          </a:p>
          <a:p>
            <a:pPr indent="0">
              <a:lnSpc>
                <a:spcPct val="150000"/>
              </a:lnSpc>
              <a:buNone/>
            </a:pPr>
            <a:endParaRPr/>
          </a:p>
          <a:p>
            <a:pPr>
              <a:lnSpc>
                <a:spcPct val="150000"/>
              </a:lnSpc>
            </a:pPr>
            <a:r>
              <a:rPr lang="ru"/>
              <a:t>Полуавтоматизированное тестирование </a:t>
            </a:r>
            <a:endParaRPr/>
          </a:p>
          <a:p>
            <a:pPr indent="0">
              <a:lnSpc>
                <a:spcPct val="150000"/>
              </a:lnSpc>
              <a:buNone/>
            </a:pPr>
            <a:r>
              <a:rPr lang="ru"/>
              <a:t>(semiautomated testing)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87" name="Google Shape;28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5890" y="2075971"/>
            <a:ext cx="3370355" cy="3874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0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4.3 ПО ПРИЗНАКУ ПОЗИТИВНОСТИ</a:t>
            </a:r>
            <a:endParaRPr sz="36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93" name="Google Shape;293;p50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b="1"/>
              <a:t>Позитивное тестирование</a:t>
            </a:r>
            <a:r>
              <a:rPr lang="ru"/>
              <a:t> – это тестирование на данных или сценариях, которые соответствуют нормальному (штатному, ожидаемому) поведению системы. </a:t>
            </a:r>
            <a:endParaRPr/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r>
              <a:rPr lang="ru"/>
              <a:t>Цель: Основной целью “позитивного” тестирования является проверка того, что при помощи системы можно делать то, для чего она создавалась.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1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4.3 ПО ПРИЗНАКУ ПОЗИТИВНОСТИ</a:t>
            </a:r>
            <a:endParaRPr sz="36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  <a:p>
            <a:pPr>
              <a:lnSpc>
                <a:spcPct val="100000"/>
              </a:lnSpc>
            </a:pPr>
            <a:endParaRPr sz="36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299" name="Google Shape;299;p51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sz="2000" b="1" dirty="0"/>
              <a:t>Негативное тестирование</a:t>
            </a:r>
            <a:r>
              <a:rPr lang="ru" sz="2000" dirty="0"/>
              <a:t> – это тестирование на данных или сценариях, которые соответствуют нештатному поведению тестируемой системы – различные сообщения об ошибках, исключительные ситуации, “запредельные” состояния и т.п. </a:t>
            </a:r>
            <a:endParaRPr sz="20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r>
              <a:rPr lang="ru" sz="2000" dirty="0"/>
              <a:t>Цель: Основной целью “негативного” тестирования является проверка устойчивости системы к воздействиям различного рода, валидация неверного набора данных, проверка обработки исключительных ситуаций (как в реализации самих программных алгоритмов, так и в логике бизнес-правил).</a:t>
            </a: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2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4.4 ПО ВРЕМЕНИ ПРОВЕДЕНИЯ</a:t>
            </a:r>
            <a:endParaRPr sz="36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305" name="Google Shape;305;p52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sz="2400" b="1" dirty="0"/>
              <a:t>Альфа-тестирование </a:t>
            </a:r>
            <a:r>
              <a:rPr lang="ru" sz="2400" dirty="0"/>
              <a:t>— имитация реальной работы с системой </a:t>
            </a:r>
            <a:endParaRPr sz="24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r>
              <a:rPr lang="ru" sz="2400" dirty="0"/>
              <a:t>Цель: альфа-тестирование проводится на ранней стадии разработки продукта, но в некоторых случаях может применяться для законченного продукта в качестве внутреннего приёмочного тестирования. Иногда альфа-тестирование выполняется под отладчиком или с использованием окружения, которое помогает быстро выявлять найденные ошибки.</a:t>
            </a:r>
            <a:endParaRPr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3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4.4 ПО ВРЕМЕНИ ПРОВЕДЕНИЯ</a:t>
            </a:r>
            <a:endParaRPr sz="36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311" name="Google Shape;311;p53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sz="2400" b="1" dirty="0"/>
              <a:t>Тестирование новых функциональностей</a:t>
            </a:r>
            <a:r>
              <a:rPr lang="ru" sz="2400" dirty="0"/>
              <a:t> (new feature testing)</a:t>
            </a:r>
            <a:endParaRPr sz="24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2400" dirty="0"/>
              <a:t> Целью является проверка того, что новая функциональность работает корректно. </a:t>
            </a:r>
            <a:endParaRPr sz="24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2400" b="1" dirty="0"/>
              <a:t>Тестирование при приемке</a:t>
            </a:r>
            <a:r>
              <a:rPr lang="ru" sz="2400" dirty="0"/>
              <a:t> (smoke testing)</a:t>
            </a:r>
            <a:endParaRPr sz="24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r>
              <a:rPr lang="ru" sz="2400" dirty="0"/>
              <a:t> Поверхностная проверка всех модулей приложения на предмет работоспособности и наличия быстро находимых критических и блокирующих дефектов.</a:t>
            </a:r>
            <a:endParaRPr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4.4 ПО ВРЕМЕНИ ПРОВЕДЕНИЯ</a:t>
            </a:r>
            <a:endParaRPr sz="3600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317" name="Google Shape;317;p5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ru" sz="2000" b="1" dirty="0"/>
              <a:t>Тестирование сборк</a:t>
            </a:r>
            <a:r>
              <a:rPr lang="ru" sz="2000" dirty="0"/>
              <a:t>и (build verification testing)</a:t>
            </a:r>
            <a:endParaRPr sz="20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 sz="2000" dirty="0"/>
              <a:t>Тестирование направленное на определение соответствия, выпущенной версии, критериям качества для начала тестирования.</a:t>
            </a:r>
            <a:endParaRPr sz="20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 sz="2000" dirty="0"/>
              <a:t>Приемка новой версии в дальнейшее тестирование или эксплуатацию. Вглубь оно может проникать дальше, в зависимости от требований к качеству выпущенной версии.</a:t>
            </a:r>
            <a:endParaRPr sz="2000" dirty="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endParaRPr sz="2000" dirty="0">
              <a:solidFill>
                <a:srgbClr val="000000"/>
              </a:solidFill>
            </a:endParaRPr>
          </a:p>
        </p:txBody>
      </p:sp>
      <p:pic>
        <p:nvPicPr>
          <p:cNvPr id="318" name="Google Shape;31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143" y="5262212"/>
            <a:ext cx="5239275" cy="1396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4.4 ПО ВРЕМЕНИ ПРОВЕДЕНИЯ</a:t>
            </a:r>
            <a:endParaRPr sz="36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324" name="Google Shape;324;p5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ru" sz="2000" b="1" dirty="0"/>
              <a:t>Тестирование при сдаче. </a:t>
            </a:r>
            <a:r>
              <a:rPr lang="ru" sz="2000" dirty="0"/>
              <a:t>Приемочное тестирование (acceptance testing) Формальный процесс тестирования, который проверяет соответствие системы требованиям и проводится с целью:</a:t>
            </a:r>
            <a:endParaRPr sz="2000" dirty="0"/>
          </a:p>
          <a:p>
            <a:pPr>
              <a:lnSpc>
                <a:spcPct val="150000"/>
              </a:lnSpc>
              <a:spcBef>
                <a:spcPts val="1764"/>
              </a:spcBef>
            </a:pPr>
            <a:r>
              <a:rPr lang="ru" sz="2000" dirty="0"/>
              <a:t>определения удовлетворяет ли система приемочным критериям;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вынесения решения заказчиком или другим уполномоченным лицом принимается приложение или нет. </a:t>
            </a:r>
            <a:endParaRPr sz="2000" dirty="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" sz="3600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4.4 ПО ВРЕМЕНИ ПРОВЕДЕНИЯ</a:t>
            </a:r>
            <a:endParaRPr sz="3600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330" name="Google Shape;330;p5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spcAft>
                <a:spcPts val="1764"/>
              </a:spcAft>
              <a:buNone/>
            </a:pPr>
            <a:r>
              <a:rPr lang="ru" sz="2000" b="1" dirty="0"/>
              <a:t>Регрессионное тестирование</a:t>
            </a:r>
            <a:r>
              <a:rPr lang="ru" sz="2000" dirty="0"/>
              <a:t> (regression testing). Регрессионное тестирование - это вид тестирования направленный на проверку изменений, сделанных в приложении или окружающей среде (починка дефекта, слияние кода, миграция на другую операционную систему, базу данных, веб-сервер или сервер приложения), для подтверждения того факта, что существующая ранее функциональность работает как и прежде. Регрессионными могут быть как функциональные, так и нефункциональные тесты.</a:t>
            </a: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467280" y="390600"/>
            <a:ext cx="992484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Источники и литература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581040" y="1738539"/>
            <a:ext cx="9667440" cy="40825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285840" indent="-285480" algn="just">
              <a:spcBef>
                <a:spcPts val="601"/>
              </a:spcBef>
              <a:spcAft>
                <a:spcPts val="601"/>
              </a:spcAft>
              <a:buClr>
                <a:srgbClr val="004892"/>
              </a:buClr>
              <a:buFont typeface="Wingdings" charset="2"/>
              <a:buChar char=""/>
            </a:pPr>
            <a:endParaRPr lang="en-US" sz="1400" b="0" strike="noStrike" spc="-1" dirty="0">
              <a:latin typeface="Arial"/>
            </a:endParaRPr>
          </a:p>
          <a:p>
            <a:pPr algn="just"/>
            <a:endParaRPr lang="en-US" sz="1400" b="0" strike="noStrike" spc="-1" dirty="0">
              <a:latin typeface="Arial"/>
            </a:endParaRPr>
          </a:p>
        </p:txBody>
      </p:sp>
      <p:sp>
        <p:nvSpPr>
          <p:cNvPr id="7" name="Google Shape;79;p17">
            <a:extLst>
              <a:ext uri="{FF2B5EF4-FFF2-40B4-BE49-F238E27FC236}">
                <a16:creationId xmlns:a16="http://schemas.microsoft.com/office/drawing/2014/main" id="{9ED5121D-18BD-4D17-AC7C-B183B10B8861}"/>
              </a:ext>
            </a:extLst>
          </p:cNvPr>
          <p:cNvSpPr txBox="1">
            <a:spLocks/>
          </p:cNvSpPr>
          <p:nvPr/>
        </p:nvSpPr>
        <p:spPr>
          <a:xfrm>
            <a:off x="364462" y="1693854"/>
            <a:ext cx="9962890" cy="5021264"/>
          </a:xfrm>
          <a:prstGeom prst="rect">
            <a:avLst/>
          </a:prstGeom>
        </p:spPr>
        <p:txBody>
          <a:bodyPr spcFirstLastPara="1" wrap="square" lIns="104270" tIns="104270" rIns="104270" bIns="10427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литература, библиотека, статьи</a:t>
            </a:r>
            <a:r>
              <a:rPr lang="en-US" sz="1800" dirty="0"/>
              <a:t> </a:t>
            </a:r>
            <a:r>
              <a:rPr lang="ru-RU" sz="1800" dirty="0"/>
              <a:t>http://software-testing.ru/</a:t>
            </a:r>
          </a:p>
          <a:p>
            <a:pPr marL="346075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endParaRPr lang="ru-RU" sz="1800" dirty="0"/>
          </a:p>
          <a:p>
            <a:pPr marL="346075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основные понятия</a:t>
            </a:r>
            <a:r>
              <a:rPr lang="en-US" sz="1800" dirty="0"/>
              <a:t> </a:t>
            </a:r>
            <a:r>
              <a:rPr lang="ru-RU" sz="1800" dirty="0"/>
              <a:t>http://www.protesting.ru/</a:t>
            </a:r>
          </a:p>
        </p:txBody>
      </p:sp>
    </p:spTree>
    <p:extLst>
      <p:ext uri="{BB962C8B-B14F-4D97-AF65-F5344CB8AC3E}">
        <p14:creationId xmlns:p14="http://schemas.microsoft.com/office/powerpoint/2010/main" val="12788451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>
                <a:solidFill>
                  <a:srgbClr val="004892"/>
                </a:solidFill>
                <a:latin typeface="Montserrat Bold"/>
              </a:rPr>
              <a:t>Спасибо за внимание!</a:t>
            </a:r>
            <a:endParaRPr lang="en-US" sz="4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173277"/>
                </a:solidFill>
                <a:latin typeface="Montserrat"/>
              </a:rPr>
              <a:t>202</a:t>
            </a:r>
            <a:r>
              <a:rPr lang="ru-RU" sz="1600" b="0" strike="noStrike" spc="-1" dirty="0">
                <a:solidFill>
                  <a:srgbClr val="173277"/>
                </a:solidFill>
                <a:latin typeface="Montserrat"/>
              </a:rPr>
              <a:t>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104" name="Рисунок 2"/>
          <p:cNvPicPr/>
          <p:nvPr/>
        </p:nvPicPr>
        <p:blipFill>
          <a:blip r:embed="rId2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105" name="CustomShape 3"/>
          <p:cNvSpPr/>
          <p:nvPr/>
        </p:nvSpPr>
        <p:spPr>
          <a:xfrm>
            <a:off x="581040" y="183348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b="0" strike="noStrike" spc="-1">
                <a:solidFill>
                  <a:srgbClr val="004892"/>
                </a:solidFill>
                <a:latin typeface="Montserrat"/>
              </a:rPr>
              <a:t>Рады видеть Вас на наших мероприятиях!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952</TotalTime>
  <Words>1927</Words>
  <Application>Microsoft Office PowerPoint</Application>
  <PresentationFormat>Произвольный</PresentationFormat>
  <Paragraphs>233</Paragraphs>
  <Slides>46</Slides>
  <Notes>43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46</vt:i4>
      </vt:variant>
    </vt:vector>
  </HeadingPairs>
  <TitlesOfParts>
    <vt:vector size="58" baseType="lpstr">
      <vt:lpstr>Arial</vt:lpstr>
      <vt:lpstr>Calibri</vt:lpstr>
      <vt:lpstr>DejaVu Sans</vt:lpstr>
      <vt:lpstr>Geometria  bold</vt:lpstr>
      <vt:lpstr>Geometria light</vt:lpstr>
      <vt:lpstr>Montserrat</vt:lpstr>
      <vt:lpstr>Montserrat Bold</vt:lpstr>
      <vt:lpstr>Symbol</vt:lpstr>
      <vt:lpstr>Times New Roman</vt:lpstr>
      <vt:lpstr>Wingdings</vt:lpstr>
      <vt:lpstr>Office Theme</vt:lpstr>
      <vt:lpstr>Office Theme</vt:lpstr>
      <vt:lpstr>Презентация PowerPoint</vt:lpstr>
      <vt:lpstr>1. УРОВНИ ТЕСТИРОВАНИЯ</vt:lpstr>
      <vt:lpstr>1.1 КОМПОНЕНТНОЕ ТЕСТИРОВАНИЕ</vt:lpstr>
      <vt:lpstr>1.1 ПРИМЕР КОМПОНЕНТНОГО ТЕСТИРОВАНИЯ</vt:lpstr>
      <vt:lpstr>1.2 ИНТЕГРАЦИОННОЕ ТЕСТИРОВАНИЕ</vt:lpstr>
      <vt:lpstr>1.2 ИНТЕГРАЦИОННОЕ ТЕСТИРОВАНИЕ. ПРИМЕР</vt:lpstr>
      <vt:lpstr>1.2 ПОДХОДЫ</vt:lpstr>
      <vt:lpstr>1.2 ПОДХОДЫ</vt:lpstr>
      <vt:lpstr>1.2 ПОДХОДЫ</vt:lpstr>
      <vt:lpstr>1.3 СИСТЕМНОЕ ТЕСТИРОВАНИЕ</vt:lpstr>
      <vt:lpstr>1.3 СИСТЕМНОЕ ТЕСТИРОВАНИЕ. ПРИМЕРЫ</vt:lpstr>
      <vt:lpstr>1.3 СИСТЕМНОЕ ТЕСТИРОВАНИЕ. ПРИМЕРЫ</vt:lpstr>
      <vt:lpstr>2. ТИПЫ ТЕСТИРОВАНИЯ</vt:lpstr>
      <vt:lpstr>2.1 ФУНКЦИОНАЛЬНОЕ ТЕСТИРОВАНИЕ</vt:lpstr>
      <vt:lpstr>2.2 НЕФУНКЦИОНАЛЬНОЕ ТЕСТИРОВАНИЕ</vt:lpstr>
      <vt:lpstr>3. МЕТОДЫ ТЕСТИРОВАНИЯ</vt:lpstr>
      <vt:lpstr>3.1 СТАТИЧЕСКИЙ МЕТОД. РЕЦЕНЗИРОВАНИЕ</vt:lpstr>
      <vt:lpstr>3.1 СТАТИЧЕСКИЙ МЕТОД. РЕЦЕНЗИРОВАНИЕ </vt:lpstr>
      <vt:lpstr>3.1 СТАТИЧЕСКИЙ МЕТОД. СТАТИЧЕСКИЙ АНАЛИЗ</vt:lpstr>
      <vt:lpstr>3.1 СТАТИЧЕСКИЙ МЕТОД. СТАТИЧЕСКИЙ АНАЛИЗ</vt:lpstr>
      <vt:lpstr>3.2 ДИНАМИЧЕСКИЕ МЕТОДЫ</vt:lpstr>
      <vt:lpstr>3.2 ДИНАМИЧЕСКИЕ МЕТОДЫ </vt:lpstr>
      <vt:lpstr>4. ВИДЫ ТЕСТИРОВАНИЯ</vt:lpstr>
      <vt:lpstr>4.1 ПО ОБЪЕКТУ ТЕСТИРОВАНИЯ</vt:lpstr>
      <vt:lpstr>4.1 ПО ОБЪЕКТУ ТЕСТИРОВАНИЯ</vt:lpstr>
      <vt:lpstr>4.1 ПО ОБЪЕКТУ ТЕСТИРОВАНИЯ</vt:lpstr>
      <vt:lpstr>4.1 ПО ОБЪЕКТУ ТЕСТИРОВАНИЯ </vt:lpstr>
      <vt:lpstr>4.1 ПО ОБЪЕКТУ ТЕСТИРОВАНИЯ</vt:lpstr>
      <vt:lpstr>4.1 ПО ОБЪЕКТУ ТЕСТИРОВАНИЯ</vt:lpstr>
      <vt:lpstr>4.1 ПО ОБЪЕКТУ ТЕСТИРОВАНИЯ</vt:lpstr>
      <vt:lpstr>4.1 ПО ОБЪЕКТУ ТЕСТИРОВАНИЯ</vt:lpstr>
      <vt:lpstr>4.1 ПО ОБЪЕКТУ ТЕСТИРОВАНИЯ</vt:lpstr>
      <vt:lpstr>4.1 ПО ОБЪЕКТУ ТЕСТИРОВАНИЯ.</vt:lpstr>
      <vt:lpstr>4.1 ПО ОБЪЕКТУ ТЕСТИРОВАНИЯ</vt:lpstr>
      <vt:lpstr>4.1 ПО ОБЪЕКТУ ТЕСТИРОВАНИЯ</vt:lpstr>
      <vt:lpstr>4.2 ПО СУБЪЕКТУ ТЕСТИРОВАНИЯ</vt:lpstr>
      <vt:lpstr>4.3 ПО СТЕПЕНИ АВТОМАТИЗАЦИИ</vt:lpstr>
      <vt:lpstr>4.3 ПО ПРИЗНАКУ ПОЗИТИВНОСТИ</vt:lpstr>
      <vt:lpstr>4.3 ПО ПРИЗНАКУ ПОЗИТИВНОСТИ </vt:lpstr>
      <vt:lpstr>4.4 ПО ВРЕМЕНИ ПРОВЕДЕНИЯ</vt:lpstr>
      <vt:lpstr>4.4 ПО ВРЕМЕНИ ПРОВЕДЕНИЯ</vt:lpstr>
      <vt:lpstr>4.4 ПО ВРЕМЕНИ ПРОВЕДЕНИЯ</vt:lpstr>
      <vt:lpstr>4.4 ПО ВРЕМЕНИ ПРОВЕДЕНИЯ</vt:lpstr>
      <vt:lpstr>4.4 ПО ВРЕМЕНИ ПРОВЕДЕНИЯ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приемной  кампании - 2019</dc:title>
  <dc:subject/>
  <dc:creator>afsafasfasfa afafaf</dc:creator>
  <dc:description/>
  <cp:lastModifiedBy>Anton Romanov</cp:lastModifiedBy>
  <cp:revision>174</cp:revision>
  <dcterms:created xsi:type="dcterms:W3CDTF">2019-09-16T12:04:13Z</dcterms:created>
  <dcterms:modified xsi:type="dcterms:W3CDTF">2022-10-18T11:27:51Z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Произвольный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</vt:i4>
  </property>
</Properties>
</file>