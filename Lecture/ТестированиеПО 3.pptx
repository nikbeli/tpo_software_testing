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0" r:id="rId23"/>
  </p:sldIdLst>
  <p:sldSz cx="10691813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18" y="67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259" y="-91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38A3-E109-4F1D-9FCC-EF09B935682D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2A091-47E7-4B68-B6F0-E4FEA3D8F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9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52000-7BA7-4E98-9AAA-4FCE25FD58C5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4563" y="801688"/>
            <a:ext cx="5670550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1EDE4-ECEF-4344-A377-B4F7BE165A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8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90b07fc6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90b07fc6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fd420ec5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ffd420ec5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c4289c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c4289c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5c4289cd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5c4289cd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90b07fc6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90b07fc6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c4289c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c4289c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c4289cd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c4289cd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c4289cd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c4289cd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c4289cd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c4289cdb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c4289cd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c4289cdb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c4289cd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c4289cd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c4289cdb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c4289cdb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c4289cd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c4289cd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c4289cd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c4289cdb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90b07fc6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90b07fc6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90b07fc6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90b07fc6e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5c4289cd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5c4289cd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c4289cd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c4289cd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c4289cd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c4289cd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c4289cdb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c4289cdb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2" y="654077"/>
            <a:ext cx="9962890" cy="841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03972" lvl="0" indent="-377979" algn="just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marL="1007943" lvl="1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marL="1511915" lvl="2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marL="2015886" lvl="3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marL="2519858" lvl="4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marL="3023829" lvl="5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527801" lvl="6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4031772" lvl="7" indent="-349980" algn="just">
              <a:spcBef>
                <a:spcPts val="1764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535744" lvl="8" indent="-349980" algn="just">
              <a:spcBef>
                <a:spcPts val="1764"/>
              </a:spcBef>
              <a:spcAft>
                <a:spcPts val="1764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598" y="6853777"/>
            <a:ext cx="641579" cy="578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9434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Тестирование программного обеспечения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581040" y="262404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Тестовая документация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F50D9F-501E-4D8A-A3DD-C3F410680F6D}"/>
              </a:ext>
            </a:extLst>
          </p:cNvPr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 sz="3086"/>
              <a:t>ГОСТ Р 56922—2016/ISO/IEC/IEEE 29119- 3:2013</a:t>
            </a:r>
            <a:endParaRPr sz="3086"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Тестовая документация</a:t>
            </a:r>
            <a:endParaRPr b="1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ru" sz="3086"/>
              <a:t>План тестирования (Test plan)</a:t>
            </a:r>
            <a:endParaRPr sz="3086"/>
          </a:p>
          <a:p>
            <a:pPr>
              <a:lnSpc>
                <a:spcPct val="150000"/>
              </a:lnSpc>
            </a:pPr>
            <a:r>
              <a:rPr lang="ru" sz="3086"/>
              <a:t>Набор тестов (Test suite)</a:t>
            </a:r>
            <a:endParaRPr sz="3086"/>
          </a:p>
          <a:p>
            <a:pPr>
              <a:lnSpc>
                <a:spcPct val="150000"/>
              </a:lnSpc>
            </a:pPr>
            <a:r>
              <a:rPr lang="ru" sz="3086"/>
              <a:t>Тестовый случай (Test case)</a:t>
            </a:r>
            <a:endParaRPr sz="3086"/>
          </a:p>
          <a:p>
            <a:pPr>
              <a:lnSpc>
                <a:spcPct val="150000"/>
              </a:lnSpc>
            </a:pPr>
            <a:r>
              <a:rPr lang="ru" sz="3086"/>
              <a:t>Отчет о дефекте (Bug report)</a:t>
            </a:r>
            <a:endParaRPr sz="3086"/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3086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Тест-план</a:t>
            </a:r>
            <a:endParaRPr b="1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ЧТО НАДО тестировать? </a:t>
            </a:r>
            <a:endParaRPr sz="3086"/>
          </a:p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ЧТО БУДЕТЕ тестировать? </a:t>
            </a:r>
            <a:endParaRPr sz="3086"/>
          </a:p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КАК будете тестировать? </a:t>
            </a:r>
            <a:endParaRPr sz="3086"/>
          </a:p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КОГДА будете тестировать? </a:t>
            </a:r>
            <a:endParaRPr sz="3086"/>
          </a:p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Критерии начала тестирования </a:t>
            </a:r>
            <a:endParaRPr sz="3086"/>
          </a:p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Критерии окончания тестирования</a:t>
            </a:r>
            <a:endParaRPr sz="308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Тест-план</a:t>
            </a:r>
            <a:endParaRPr b="1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Окружение тестируемой системы</a:t>
            </a:r>
            <a:endParaRPr sz="3086"/>
          </a:p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Необходимое для тестирования оборудование и программные средства</a:t>
            </a:r>
            <a:endParaRPr sz="3086"/>
          </a:p>
          <a:p>
            <a:pPr indent="-447975">
              <a:lnSpc>
                <a:spcPct val="150000"/>
              </a:lnSpc>
              <a:buSzPts val="2800"/>
            </a:pPr>
            <a:r>
              <a:rPr lang="ru" sz="3086"/>
              <a:t>РИСКИ и пути их разрешения</a:t>
            </a:r>
            <a:endParaRPr sz="3307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 sz="330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814" y="162744"/>
            <a:ext cx="7276187" cy="723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Атрибуты Тест-плана</a:t>
            </a:r>
            <a:endParaRPr b="1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ru" sz="2000" dirty="0"/>
              <a:t>Title / Version / Author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ТЗ на продукт или иная документация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Features to be tested/ not to be tested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Виды тестирования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Список тестовой документации (list of TS / TC)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Список инструментов тестирования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Сервер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Ответственные лица (ФИО/ Должность / занятие)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Расписание (QA Schedule)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Оценка риска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Примечание </a:t>
            </a:r>
            <a:endParaRPr sz="7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Тест-план</a:t>
            </a:r>
            <a:endParaRPr b="1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l="18540" t="27071" r="21514" b="14190"/>
          <a:stretch/>
        </p:blipFill>
        <p:spPr>
          <a:xfrm>
            <a:off x="705078" y="1743766"/>
            <a:ext cx="9281656" cy="4921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Тест-план</a:t>
            </a:r>
            <a:endParaRPr b="1"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637" y="1693845"/>
            <a:ext cx="8557325" cy="5355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Test Suite</a:t>
            </a:r>
            <a:endParaRPr b="1"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sz="2000" dirty="0"/>
              <a:t>ТS – группа тест-кейсов для проверки отдельного модуля или функциональности. </a:t>
            </a:r>
            <a:endParaRPr sz="2000" dirty="0"/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r>
              <a:rPr lang="ru" sz="2000" dirty="0"/>
              <a:t>Атрибуты: </a:t>
            </a:r>
            <a:endParaRPr sz="2000" dirty="0"/>
          </a:p>
          <a:p>
            <a:pPr>
              <a:lnSpc>
                <a:spcPct val="150000"/>
              </a:lnSpc>
              <a:spcBef>
                <a:spcPts val="1764"/>
              </a:spcBef>
            </a:pPr>
            <a:r>
              <a:rPr lang="ru" sz="2000" dirty="0"/>
              <a:t>ID - идентификатор (уникальный в рамках компании) 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Author - автор 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Priority - приоритет выполнения 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Title / Description / Summary - краткое описание </a:t>
            </a:r>
            <a:endParaRPr sz="2000" dirty="0"/>
          </a:p>
          <a:p>
            <a:pPr>
              <a:lnSpc>
                <a:spcPct val="150000"/>
              </a:lnSpc>
            </a:pPr>
            <a:r>
              <a:rPr lang="ru" sz="2000" dirty="0"/>
              <a:t>List of TC – список тест-кейсов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Пример TS</a:t>
            </a:r>
            <a:endParaRPr b="1"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 b="1">
                <a:solidFill>
                  <a:srgbClr val="000000"/>
                </a:solidFill>
              </a:rPr>
              <a:t>Интернет-магазин</a:t>
            </a:r>
            <a:endParaRPr b="1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1764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TS #1: “Модуль авторизации”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TC #1.1: “Авторизация пользователя”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TC #1.2: “Восстановление пароля”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TC #1.3: “Помощь”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TC #1.4:   …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ru">
                <a:solidFill>
                  <a:schemeClr val="dk1"/>
                </a:solidFill>
              </a:rPr>
              <a:t>TS #2: “Регистрация пользователя”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</a:pPr>
            <a:r>
              <a:rPr lang="ru">
                <a:solidFill>
                  <a:schemeClr val="dk1"/>
                </a:solidFill>
              </a:rPr>
              <a:t>TC #2.1:  ...</a:t>
            </a:r>
            <a:endParaRPr>
              <a:solidFill>
                <a:srgbClr val="000000"/>
              </a:solidFill>
            </a:endParaRPr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Test Сase</a:t>
            </a:r>
            <a:endParaRPr b="1"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 b="1">
                <a:solidFill>
                  <a:srgbClr val="000000"/>
                </a:solidFill>
              </a:rPr>
              <a:t>Тестовый случай (Test Case) </a:t>
            </a:r>
            <a:r>
              <a:rPr lang="ru">
                <a:solidFill>
                  <a:srgbClr val="000000"/>
                </a:solidFill>
              </a:rPr>
              <a:t>- совокупность шагов, конкретных условий и параметров, необходимых для проверки реализации тестируемой функции или её части.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buNone/>
            </a:pPr>
            <a:endParaRPr b="1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r>
              <a:rPr lang="ru" b="1">
                <a:solidFill>
                  <a:srgbClr val="000000"/>
                </a:solidFill>
              </a:rPr>
              <a:t>Action &gt; Expected Result &gt; Test Result 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Атрибуты Test Case</a:t>
            </a:r>
            <a:endParaRPr b="1"/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>
                <a:solidFill>
                  <a:srgbClr val="000000"/>
                </a:solidFill>
              </a:rPr>
              <a:t>ID</a:t>
            </a:r>
            <a:endParaRPr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>
                <a:solidFill>
                  <a:srgbClr val="000000"/>
                </a:solidFill>
              </a:rPr>
              <a:t>Дата (Date / History)</a:t>
            </a:r>
            <a:endParaRPr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>
                <a:solidFill>
                  <a:srgbClr val="000000"/>
                </a:solidFill>
              </a:rPr>
              <a:t>Автор (Author)</a:t>
            </a:r>
            <a:endParaRPr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Заголовок / описание (Title / Description / Summary)</a:t>
            </a:r>
            <a:endParaRPr sz="20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Выполняемые шаги (Steps / Expected results)</a:t>
            </a:r>
            <a:endParaRPr sz="20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Приоритет выполнения (Priority)</a:t>
            </a:r>
            <a:endParaRPr sz="20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Предусловия (Preconditions)</a:t>
            </a:r>
            <a:endParaRPr sz="20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>
                <a:solidFill>
                  <a:srgbClr val="000000"/>
                </a:solidFill>
              </a:rPr>
              <a:t>Дополнительные сведения (Attachment)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Виды тестовых случаев</a:t>
            </a:r>
            <a:endParaRPr b="1"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Позитивный тест-кейс</a:t>
            </a:r>
            <a:r>
              <a:rPr lang="ru" sz="2000" dirty="0">
                <a:solidFill>
                  <a:srgbClr val="000000"/>
                </a:solidFill>
              </a:rPr>
              <a:t> использует только корректные данные и проверяет, что приложение правильно выполнило вызываемую функцию.</a:t>
            </a:r>
            <a:endParaRPr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dirty="0">
                <a:solidFill>
                  <a:srgbClr val="000000"/>
                </a:solidFill>
              </a:rPr>
              <a:t>Негативный тест-кейс оперирует как корректными так и некорректными данными (минимум 1 некорректный параметр) и ставит целью проверку исключительных ситуаций (срабатывание валидаторов), а также проверяет, что вызываемая приложением функция не выполняется при срабатывании валидатора. 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Структура Test Cases</a:t>
            </a:r>
            <a:endParaRPr b="1"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PreConditions</a:t>
            </a:r>
            <a:r>
              <a:rPr lang="ru" sz="2000" dirty="0">
                <a:solidFill>
                  <a:srgbClr val="000000"/>
                </a:solidFill>
              </a:rPr>
              <a:t> - Список действий, которые приводят систему к состоянию пригодному для проведения основной проверки. Либо список условий, выполнение которых говорит о том, что система находится в пригодном для проведения основного теста состояния. </a:t>
            </a:r>
            <a:endParaRPr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Test Case Description</a:t>
            </a:r>
            <a:r>
              <a:rPr lang="ru" sz="2000" dirty="0">
                <a:solidFill>
                  <a:srgbClr val="000000"/>
                </a:solidFill>
              </a:rPr>
              <a:t> - Список действий, переводящих систему из одного состояния в другое, для получения результата, на основании которого можно сделать вывод об удовлетворении реализации, поставленным требованиям </a:t>
            </a:r>
            <a:endParaRPr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 sz="2000" b="1" dirty="0">
                <a:solidFill>
                  <a:srgbClr val="000000"/>
                </a:solidFill>
              </a:rPr>
              <a:t>PostConditions</a:t>
            </a:r>
            <a:r>
              <a:rPr lang="ru" sz="2000" dirty="0">
                <a:solidFill>
                  <a:srgbClr val="000000"/>
                </a:solidFill>
              </a:rPr>
              <a:t> - Список действий, переводящих систему в первоначальное состояние (состояние до проведения теста - initial state)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Пример TC #1</a:t>
            </a:r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graphicFrame>
        <p:nvGraphicFramePr>
          <p:cNvPr id="149" name="Google Shape;149;p28"/>
          <p:cNvGraphicFramePr/>
          <p:nvPr>
            <p:extLst>
              <p:ext uri="{D42A27DB-BD31-4B8C-83A1-F6EECF244321}">
                <p14:modId xmlns:p14="http://schemas.microsoft.com/office/powerpoint/2010/main" val="2558587972"/>
              </p:ext>
            </p:extLst>
          </p:nvPr>
        </p:nvGraphicFramePr>
        <p:xfrm>
          <a:off x="547943" y="3106240"/>
          <a:ext cx="9974572" cy="382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4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5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6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751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ID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Тип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Описание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Предусловия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Шаги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Ожидаемый результат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39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1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Негативный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 dirty="0"/>
                        <a:t>Создание новой конференции с не уникальным названием</a:t>
                      </a:r>
                      <a:endParaRPr sz="1600" dirty="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/>
                        <a:t>Пользователь находится на странице создания конференции.«Конференция 2019» уже существует.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ru" sz="1600"/>
                        <a:t>Ввести в поле «Название» «Конференция 2019».</a:t>
                      </a:r>
                      <a:endParaRPr sz="1600"/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ru" sz="1600"/>
                        <a:t>Нажать на кнопку «Сохранить»</a:t>
                      </a:r>
                      <a:endParaRPr sz="16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600" dirty="0"/>
                        <a:t>На странице создания под полем «Название» появится предупреждение, что такая конференция уже существует.</a:t>
                      </a:r>
                      <a:endParaRPr sz="1600" dirty="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Пример TC #2</a:t>
            </a:r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graphicFrame>
        <p:nvGraphicFramePr>
          <p:cNvPr id="156" name="Google Shape;156;p29"/>
          <p:cNvGraphicFramePr/>
          <p:nvPr>
            <p:extLst>
              <p:ext uri="{D42A27DB-BD31-4B8C-83A1-F6EECF244321}">
                <p14:modId xmlns:p14="http://schemas.microsoft.com/office/powerpoint/2010/main" val="3828005018"/>
              </p:ext>
            </p:extLst>
          </p:nvPr>
        </p:nvGraphicFramePr>
        <p:xfrm>
          <a:off x="385490" y="1495703"/>
          <a:ext cx="9799083" cy="46118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72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2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1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334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b="1"/>
                        <a:t>Тест-кейс №3  Наличие поля тегов на странице добавления задачи</a:t>
                      </a:r>
                      <a:endParaRPr sz="1400" b="1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0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b="1"/>
                        <a:t>Тип</a:t>
                      </a:r>
                      <a:endParaRPr sz="1400" b="1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/>
                        <a:t>Позитивный</a:t>
                      </a:r>
                      <a:endParaRPr sz="14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97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b="1"/>
                        <a:t>Предусловие</a:t>
                      </a:r>
                      <a:endParaRPr sz="1400" b="1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dirty="0"/>
                        <a:t>Открыт сайт ng-tracker.ru.  Пользователь находится на странице списка задач</a:t>
                      </a:r>
                      <a:endParaRPr sz="1400" dirty="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28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b="1"/>
                        <a:t>Шаг</a:t>
                      </a:r>
                      <a:endParaRPr sz="1400" b="1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b="1"/>
                        <a:t>Описание</a:t>
                      </a:r>
                      <a:endParaRPr sz="1400" b="1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b="1"/>
                        <a:t>Ожидаемый результат</a:t>
                      </a:r>
                      <a:endParaRPr sz="1400" b="1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703">
                <a:tc>
                  <a:txBody>
                    <a:bodyPr/>
                    <a:lstStyle/>
                    <a:p>
                      <a:pPr marL="228600" lvl="0" indent="-22860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/>
                        <a:t>1)	 </a:t>
                      </a:r>
                      <a:endParaRPr sz="14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/>
                        <a:t>Нажать на кнопку «Добавить новую задачу»</a:t>
                      </a:r>
                      <a:endParaRPr sz="14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/>
                        <a:t> </a:t>
                      </a:r>
                      <a:endParaRPr sz="14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3848">
                <a:tc>
                  <a:txBody>
                    <a:bodyPr/>
                    <a:lstStyle/>
                    <a:p>
                      <a:pPr marL="228600" lvl="0" indent="-22860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/>
                        <a:t>2)	 </a:t>
                      </a:r>
                      <a:endParaRPr sz="14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/>
                        <a:t>Ввести слово «тег» в поле «Теги»</a:t>
                      </a:r>
                      <a:endParaRPr sz="140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400" dirty="0"/>
                        <a:t>Страница загружена, поле тегов отображается корректно</a:t>
                      </a:r>
                      <a:endParaRPr sz="1400" dirty="0"/>
                    </a:p>
                  </a:txBody>
                  <a:tcPr marL="75591" marR="75591" marT="100779" marB="100779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Требования</a:t>
            </a:r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Соответствовать действительности и настоящему времени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Не давать коммерческих деталей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Не зависеть от других тест-кейсов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Bug report</a:t>
            </a:r>
            <a:endParaRPr b="1"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Источник - тест-кейс, ожидаемое поведение которого расходится с фактическим поведением системы.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Описание включает в себя часть тест-кейса + содержит развернутую информацию о фактическом поведении и условиях воспроизведения бага.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Показатели качества тестовой документации</a:t>
            </a:r>
            <a:endParaRPr b="1"/>
          </a:p>
        </p:txBody>
      </p:sp>
      <p:sp>
        <p:nvSpPr>
          <p:cNvPr id="174" name="Google Shape;174;p3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Легкость исполнения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Удобство работы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Упрощение установки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Повышение надежности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Снижение стоимости тех. поддержки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Облегчение сопровождения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Коммерческий успех проекта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Достоверность информации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b="1"/>
              <a:t>Как оценить тестовую документацию?</a:t>
            </a:r>
            <a:endParaRPr b="1"/>
          </a:p>
        </p:txBody>
      </p:sp>
      <p:sp>
        <p:nvSpPr>
          <p:cNvPr id="180" name="Google Shape;180;p3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Адекватны ли требования, указанные в этой документации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Полны ли они?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Совместимы ли они между собой?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Выполнимы ли они?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Разумны ли они?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Поддаются ли они тестированию вообще?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ru">
                <a:solidFill>
                  <a:srgbClr val="000000"/>
                </a:solidFill>
              </a:rPr>
              <a:t>Нет ли избыточности?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953</TotalTime>
  <Words>727</Words>
  <Application>Microsoft Office PowerPoint</Application>
  <PresentationFormat>Произвольный</PresentationFormat>
  <Paragraphs>131</Paragraphs>
  <Slides>22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3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Тестовая документация</vt:lpstr>
      <vt:lpstr>Тест-план</vt:lpstr>
      <vt:lpstr>Тест-план</vt:lpstr>
      <vt:lpstr>Презентация PowerPoint</vt:lpstr>
      <vt:lpstr>Атрибуты Тест-плана</vt:lpstr>
      <vt:lpstr>Тест-план</vt:lpstr>
      <vt:lpstr>Тест-план</vt:lpstr>
      <vt:lpstr>Test Suite</vt:lpstr>
      <vt:lpstr>Пример TS</vt:lpstr>
      <vt:lpstr>Test Сase</vt:lpstr>
      <vt:lpstr>Атрибуты Test Case</vt:lpstr>
      <vt:lpstr>Виды тестовых случаев</vt:lpstr>
      <vt:lpstr>Структура Test Cases</vt:lpstr>
      <vt:lpstr>Пример TC #1</vt:lpstr>
      <vt:lpstr>Пример TC #2</vt:lpstr>
      <vt:lpstr>Требования</vt:lpstr>
      <vt:lpstr>Bug report</vt:lpstr>
      <vt:lpstr>Показатели качества тестовой документации</vt:lpstr>
      <vt:lpstr>Как оценить тестовую документацию?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Anton Romanov</cp:lastModifiedBy>
  <cp:revision>175</cp:revision>
  <dcterms:created xsi:type="dcterms:W3CDTF">2019-09-16T12:04:13Z</dcterms:created>
  <dcterms:modified xsi:type="dcterms:W3CDTF">2022-10-18T11:33:26Z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